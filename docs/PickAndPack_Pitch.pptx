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charts/chart1.xml" ContentType="application/vnd.openxmlformats-officedocument.drawingml.chart+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charts/chart2.xml" ContentType="application/vnd.openxmlformats-officedocument.drawingml.chart+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1df9743d-63c1-e92f-b1f2-87cb548968e2}">
          <p14:sldIdLst>
            <p14:sldId id="256"/>
          </p14:sldIdLst>
        </p14:section>
        <p14:section name="Problem and data" id="{ff51104d-b9a5-1564-8f21-0cb8e95c10d1}">
          <p14:sldIdLst>
            <p14:sldId id="257"/>
            <p14:sldId id="258"/>
          </p14:sldIdLst>
        </p14:section>
        <p14:section name="The twin" id="{503d23d4-7f34-102a-3676-67381bc99679}">
          <p14:sldIdLst>
            <p14:sldId id="259"/>
          </p14:sldIdLst>
        </p14:section>
        <p14:section name="Results" id="{d3d5e41c-a1b3-ed2f-f950-6ec3687fdbe9}">
          <p14:sldIdLst>
            <p14:sldId id="260"/>
            <p14:sldId id="261"/>
            <p14:sldId id="262"/>
            <p14:sldId id="263"/>
            <p14:sldId id="264"/>
          </p14:sldIdLst>
        </p14:section>
        <p14:section name="Rigour" id="{665a5d59-031c-6495-1b95-f013d24bac4a}">
          <p14:sldIdLst>
            <p14:sldId id="265"/>
            <p14:sldId id="266"/>
          </p14:sldIdLst>
        </p14:section>
        <p14:section name="Close" id="{441bd273-3180-3c49-0d31-1e9fa243d023}">
          <p14:sldIdLst>
            <p14:sldId id="267"/>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1D2433"/>
                </a:solidFill>
                <a:latin typeface="+mn-lt"/>
              </a:defRPr>
            </a:pPr>
            <a:r>
              <a:rPr sz="1400" b="0" i="0" u="none" strike="noStrike">
                <a:solidFill>
                  <a:srgbClr val="1D2433"/>
                </a:solidFill>
                <a:latin typeface="+mn-lt"/>
              </a:rPr>
              <a:t>Picking time per order, test week (seconds)</a:t>
            </a:r>
          </a:p>
        </c:rich>
      </c:tx>
      <c:layout/>
      <c:overlay val="0"/>
    </c:title>
    <c:autoTitleDeleted val="0"/>
    <c:plotArea>
      <c:layout/>
      <c:barChart>
        <c:barDir val="col"/>
        <c:grouping val="clustered"/>
        <c:varyColors val="0"/>
        <c:ser>
          <c:idx val="0"/>
          <c:order val="0"/>
          <c:tx>
            <c:strRef>
              <c:f>Sheet1!$B$1</c:f>
              <c:strCache>
                <c:ptCount val="1"/>
                <c:pt idx="0">
                  <c:v>Picking time per order (s)</c:v>
                </c:pt>
              </c:strCache>
            </c:strRef>
          </c:tx>
          <c:spPr>
            <a:solidFill>
              <a:srgbClr val="8B93A5"/>
            </a:solidFill>
            <a:effectLst/>
          </c:spPr>
          <c:invertIfNegative val="0"/>
          <c:dLbls>
            <c:numFmt formatCode="#,##0" sourceLinked="0"/>
            <c:txPr>
              <a:bodyPr/>
              <a:lstStyle/>
              <a:p>
                <a:pPr>
                  <a:defRPr b="0" i="0" strike="noStrike" sz="1400" u="none">
                    <a:solidFill>
                      <a:srgbClr val="1D2433"/>
                    </a:solidFill>
                    <a:latin typeface="+mn-lt"/>
                  </a:defRPr>
                </a:pPr>
              </a:p>
            </c:txPr>
            <c:showLegendKey val="0"/>
            <c:showVal val="1"/>
            <c:showCatName val="0"/>
            <c:showSerName val="0"/>
            <c:showPercent val="0"/>
            <c:showBubbleSize val="0"/>
            <c:showLeaderLines val="0"/>
          </c:dLbls>
          <c:dPt>
            <c:idx val="0"/>
            <c:invertIfNegative val="0"/>
            <c:bubble3D val="0"/>
            <c:spPr>
              <a:solidFill>
                <a:srgbClr val="8B93A5"/>
              </a:solidFill>
              <a:effectLst/>
            </c:spPr>
          </c:dPt>
          <c:dPt>
            <c:idx val="1"/>
            <c:invertIfNegative val="0"/>
            <c:bubble3D val="0"/>
            <c:spPr>
              <a:solidFill>
                <a:srgbClr val="2457C5"/>
              </a:solidFill>
              <a:effectLst/>
            </c:spPr>
          </c:dPt>
          <c:dPt>
            <c:idx val="2"/>
            <c:invertIfNegative val="0"/>
            <c:bubble3D val="0"/>
            <c:spPr>
              <a:solidFill>
                <a:srgbClr val="2E7D5B"/>
              </a:solidFill>
              <a:effectLst/>
            </c:spPr>
          </c:dPt>
          <c:cat>
            <c:multiLvlStrRef>
              <c:f>Sheet1!$A$2:$A$4</c:f>
              <c:multiLvlStrCache>
                <c:ptCount val="3"/>
                <c:lvl>
                  <c:pt idx="0">
                    <c:v>Original (as received)</c:v>
                  </c:pt>
                  <c:pt idx="1">
                    <c:v>Baseline (fast movers by the dock)</c:v>
                  </c:pt>
                  <c:pt idx="2">
                    <c:v>AI Suggest (Balanced)</c:v>
                  </c:pt>
                </c:lvl>
              </c:multiLvlStrCache>
            </c:multiLvlStrRef>
          </c:cat>
          <c:val>
            <c:numRef>
              <c:f>Sheet1!$B$2:$B$4</c:f>
              <c:numCache>
                <c:formatCode>General</c:formatCode>
                <c:ptCount val="3"/>
                <c:pt idx="0">
                  <c:v>255.2</c:v>
                </c:pt>
                <c:pt idx="1">
                  <c:v>251.6</c:v>
                </c:pt>
                <c:pt idx="2">
                  <c:v>235.6</c:v>
                </c:pt>
              </c:numCache>
            </c:numRef>
          </c:val>
        </c:ser>
        <c:dLbls>
          <c:numFmt formatCode="#,##0" sourceLinked="0"/>
          <c:txPr>
            <a:bodyPr/>
            <a:lstStyle/>
            <a:p>
              <a:pPr>
                <a:defRPr b="0" i="0" strike="noStrike" sz="1400" u="none">
                  <a:solidFill>
                    <a:srgbClr val="1D2433"/>
                  </a:solidFill>
                  <a:latin typeface="+mn-lt"/>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3B4458"/>
                </a:solidFill>
                <a:latin typeface="+mn-lt"/>
              </a:defRPr>
            </a:pPr>
            <a:endParaRPr lang="en-US"/>
          </a:p>
        </c:txPr>
        <c:crossAx val="2094734552"/>
        <c:crosses val="autoZero"/>
        <c:auto val="1"/>
        <c:lblAlgn val="ctr"/>
        <c:noMultiLvlLbl val="1"/>
      </c:catAx>
      <c:valAx>
        <c:axId val="2094734552"/>
        <c:scaling>
          <c:orientation val="minMax"/>
          <c:max val="300"/>
          <c:min val="0"/>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1D2433"/>
                </a:solidFill>
                <a:latin typeface="+mn-lt"/>
              </a:defRPr>
            </a:pPr>
            <a:r>
              <a:rPr sz="1400" b="0" i="0" u="none" strike="noStrike">
                <a:solidFill>
                  <a:srgbClr val="1D2433"/>
                </a:solidFill>
                <a:latin typeface="+mn-lt"/>
              </a:rPr>
              <a:t>Walking over the test week (km)</a:t>
            </a:r>
          </a:p>
        </c:rich>
      </c:tx>
      <c:layout/>
      <c:overlay val="0"/>
    </c:title>
    <c:autoTitleDeleted val="0"/>
    <c:plotArea>
      <c:layout/>
      <c:barChart>
        <c:barDir val="bar"/>
        <c:grouping val="clustered"/>
        <c:varyColors val="0"/>
        <c:ser>
          <c:idx val="0"/>
          <c:order val="0"/>
          <c:tx>
            <c:strRef>
              <c:f>Sheet1!$B$1</c:f>
              <c:strCache>
                <c:ptCount val="1"/>
                <c:pt idx="0">
                  <c:v>Walking, test week (km)</c:v>
                </c:pt>
              </c:strCache>
            </c:strRef>
          </c:tx>
          <c:spPr>
            <a:solidFill>
              <a:srgbClr val="8B93A5"/>
            </a:solidFill>
            <a:effectLst/>
          </c:spPr>
          <c:invertIfNegative val="0"/>
          <c:dLbls>
            <c:numFmt formatCode="0.0" sourceLinked="0"/>
            <c:txPr>
              <a:bodyPr/>
              <a:lstStyle/>
              <a:p>
                <a:pPr>
                  <a:defRPr b="0" i="0" strike="noStrike" sz="1400" u="none">
                    <a:solidFill>
                      <a:srgbClr val="1D2433"/>
                    </a:solidFill>
                    <a:latin typeface="+mn-lt"/>
                  </a:defRPr>
                </a:pPr>
              </a:p>
            </c:txPr>
            <c:showLegendKey val="0"/>
            <c:showVal val="1"/>
            <c:showCatName val="0"/>
            <c:showSerName val="0"/>
            <c:showPercent val="0"/>
            <c:showBubbleSize val="0"/>
            <c:showLeaderLines val="0"/>
          </c:dLbls>
          <c:dPt>
            <c:idx val="0"/>
            <c:invertIfNegative val="0"/>
            <c:bubble3D val="0"/>
            <c:spPr>
              <a:solidFill>
                <a:srgbClr val="8B93A5"/>
              </a:solidFill>
              <a:effectLst/>
            </c:spPr>
          </c:dPt>
          <c:dPt>
            <c:idx val="1"/>
            <c:invertIfNegative val="0"/>
            <c:bubble3D val="0"/>
            <c:spPr>
              <a:solidFill>
                <a:srgbClr val="8B93A5"/>
              </a:solidFill>
              <a:effectLst/>
            </c:spPr>
          </c:dPt>
          <c:dPt>
            <c:idx val="2"/>
            <c:invertIfNegative val="0"/>
            <c:bubble3D val="0"/>
            <c:spPr>
              <a:solidFill>
                <a:srgbClr val="2E7D5B"/>
              </a:solidFill>
              <a:effectLst/>
            </c:spPr>
          </c:dPt>
          <c:dPt>
            <c:idx val="3"/>
            <c:invertIfNegative val="0"/>
            <c:bubble3D val="0"/>
            <c:spPr>
              <a:solidFill>
                <a:srgbClr val="2457C5"/>
              </a:solidFill>
              <a:effectLst/>
            </c:spPr>
          </c:dPt>
          <c:dPt>
            <c:idx val="4"/>
            <c:invertIfNegative val="0"/>
            <c:bubble3D val="0"/>
            <c:spPr>
              <a:solidFill>
                <a:srgbClr val="2E7D5B"/>
              </a:solidFill>
              <a:effectLst/>
            </c:spPr>
          </c:dPt>
          <c:cat>
            <c:multiLvlStrRef>
              <c:f>Sheet1!$A$2:$A$6</c:f>
              <c:multiLvlStrCache>
                <c:ptCount val="5"/>
                <c:lvl>
                  <c:pt idx="0">
                    <c:v>Original, single orders</c:v>
                  </c:pt>
                  <c:pt idx="1">
                    <c:v>Baseline, single orders</c:v>
                  </c:pt>
                  <c:pt idx="2">
                    <c:v>AI layout, single orders</c:v>
                  </c:pt>
                  <c:pt idx="3">
                    <c:v>Baseline, 4-order carts</c:v>
                  </c:pt>
                  <c:pt idx="4">
                    <c:v>AI layout, 4-order carts</c:v>
                  </c:pt>
                </c:lvl>
              </c:multiLvlStrCache>
            </c:multiLvlStrRef>
          </c:cat>
          <c:val>
            <c:numRef>
              <c:f>Sheet1!$B$2:$B$6</c:f>
              <c:numCache>
                <c:formatCode>General</c:formatCode>
                <c:ptCount val="5"/>
                <c:pt idx="0">
                  <c:v>51.8</c:v>
                </c:pt>
                <c:pt idx="1">
                  <c:v>49.4</c:v>
                </c:pt>
                <c:pt idx="2">
                  <c:v>45.5</c:v>
                </c:pt>
                <c:pt idx="3">
                  <c:v>20</c:v>
                </c:pt>
                <c:pt idx="4">
                  <c:v>18.8</c:v>
                </c:pt>
              </c:numCache>
            </c:numRef>
          </c:val>
        </c:ser>
        <c:dLbls>
          <c:numFmt formatCode="0.0" sourceLinked="0"/>
          <c:txPr>
            <a:bodyPr/>
            <a:lstStyle/>
            <a:p>
              <a:pPr>
                <a:defRPr b="0" i="0" strike="noStrike" sz="1400" u="none">
                  <a:solidFill>
                    <a:srgbClr val="1D2433"/>
                  </a:solidFill>
                  <a:latin typeface="+mn-lt"/>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200" b="0" i="0" u="none" strike="noStrike">
                <a:solidFill>
                  <a:srgbClr val="3B4458"/>
                </a:solidFill>
                <a:latin typeface="+mn-lt"/>
              </a:defRPr>
            </a:pPr>
            <a:endParaRPr lang="en-US"/>
          </a:p>
        </c:txPr>
        <c:crossAx val="2094734552"/>
        <c:crosses val="autoZero"/>
        <c:auto val="1"/>
        <c:lblAlgn val="ctr"/>
        <c:noMultiLvlLbl val="1"/>
      </c:catAx>
      <c:valAx>
        <c:axId val="2094734552"/>
        <c:scaling>
          <c:orientation val="minMax"/>
          <c:max val="60"/>
          <c:min val="0"/>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built a digital twin of a gift wholesaler's picking floor. Every layout change is replayed on real orders, so it's measured, not claimed.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Slotting is decided once and lived with for months. We make it testable.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Everything is tuned on three weeks and scored on the fourth, which it never saw. Even the player's score is hidden until they submit.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animated walk and the score come from one function, and a test proves they match. Each pick takes 6 seconds plus 4 per handling level; forklift items lose time the deeper they sit in an aisle.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Fast movers by the dock help walking a little, but wholesale orders cross the whole floor, and it ignores forklift access. What works is putting products that are bought together next to each other.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It searches 45,000 swaps in a few seconds in the browser, explains every move, and never sees the week it's scored on. No trained model: frequency is a count and the optimiser is a classical search.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Real warehouses don't move everything. The optimiser charges for every move, so it picks the moves that pay. These figures cover one 100-product zone of about 92 orders a day; the method scales with the zone.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Batching cuts trips; slotting cuts each trip. They add up: 4-order proximity carts on the AI layout walk about 64% less than the original single-order picking.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More pickers ship more, but they start bumping into each other in the aisles. The twin shows you that before you staff the shift.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arrange by frequency as the brief asks, and model what a real warehouse has to respect: cost classes, handling levels and forklifts, new products, and congestion.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number here is reproducible from the repository, and CI runs the data checks, lint, type checks and all tests before each deploy. We also state what the model doesn't cover.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Same orders before and after, so every saving here is measured, not claimed. Thank you; happy to take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_DARK">
    <p:bg>
      <p:bgPr>
        <a:solidFill>
          <a:schemeClr val="tx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1463040"/>
            <a:ext cx="6400800" cy="1828800"/>
          </a:xfrm>
          <a:prstGeom prst="rect">
            <a:avLst/>
          </a:prstGeom>
          <a:noFill/>
          <a:ln/>
        </p:spPr>
        <p:txBody>
          <a:bodyPr wrap="square" rtlCol="0"/>
          <a:lstStyle>
            <a:lvl1pPr algn="l" indent="0" marL="0">
              <a:buNone/>
              <a:defRPr lang="en-US" sz="5400" b="1" dirty="0">
                <a:solidFill>
                  <a:schemeClr val="bg1"/>
                </a:solidFill>
              </a:defRPr>
            </a:lvl1pPr>
          </a:lstStyle>
          <a:p>
            <a:pPr algn="l" indent="0" marL="0">
              <a:buNone/>
            </a:pPr>
            <a:endParaRPr lang="en-US" sz="5400" dirty="0"/>
          </a:p>
        </p:txBody>
      </p:sp>
      <p:sp>
        <p:nvSpPr>
          <p:cNvPr id="3" name="Text 0"/>
          <p:cNvSpPr/>
          <p:nvPr>
            <p:ph idx="101" type="body" hasCustomPrompt="1"/>
          </p:nvPr>
        </p:nvSpPr>
        <p:spPr>
          <a:xfrm>
            <a:off x="548640" y="3429000"/>
            <a:ext cx="6400800" cy="1005840"/>
          </a:xfrm>
          <a:prstGeom prst="rect">
            <a:avLst/>
          </a:prstGeom>
          <a:noFill/>
          <a:ln/>
        </p:spPr>
        <p:txBody>
          <a:bodyPr wrap="square" rtlCol="0"/>
          <a:lstStyle>
            <a:lvl1pPr algn="l" indent="0" marL="0">
              <a:buNone/>
              <a:defRPr lang="en-US" sz="2000" dirty="0">
                <a:solidFill>
                  <a:schemeClr val="accent6"/>
                </a:solidFill>
              </a:defRPr>
            </a:lvl1pPr>
          </a:lstStyle>
          <a:p>
            <a:pPr algn="l" indent="0" marL="0">
              <a:buNone/>
            </a:pPr>
            <a:endParaRPr lang="en-US" sz="20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411480"/>
            <a:ext cx="11094415" cy="731520"/>
          </a:xfrm>
          <a:prstGeom prst="rect">
            <a:avLst/>
          </a:prstGeom>
          <a:noFill/>
          <a:ln/>
        </p:spPr>
        <p:txBody>
          <a:bodyPr wrap="square" rtlCol="0"/>
          <a:lstStyle>
            <a:lvl1pPr algn="l" indent="0" marL="0">
              <a:buNone/>
              <a:defRPr lang="en-US" sz="2800" b="1" dirty="0">
                <a:solidFill>
                  <a:schemeClr val="tx1"/>
                </a:solidFill>
              </a:defRPr>
            </a:lvl1pPr>
          </a:lstStyle>
          <a:p>
            <a:pPr algn="l" indent="0" marL="0">
              <a:buNone/>
            </a:pPr>
            <a:endParaRPr lang="en-US" sz="2800" dirty="0"/>
          </a:p>
        </p:txBody>
      </p:sp>
      <p:sp>
        <p:nvSpPr>
          <p:cNvPr id="3" name="Text 0"/>
          <p:cNvSpPr/>
          <p:nvPr/>
        </p:nvSpPr>
        <p:spPr>
          <a:xfrm>
            <a:off x="548640" y="6446520"/>
            <a:ext cx="5486400" cy="274320"/>
          </a:xfrm>
          <a:prstGeom prst="rect">
            <a:avLst/>
          </a:prstGeom>
          <a:noFill/>
          <a:ln/>
        </p:spPr>
        <p:txBody>
          <a:bodyPr wrap="square" lIns="0" tIns="0" rIns="0" bIns="0" rtlCol="0" anchor="ctr"/>
          <a:lstStyle/>
          <a:p>
            <a:pPr indent="0" marL="0">
              <a:buNone/>
            </a:pPr>
            <a:r>
              <a:rPr lang="en-US" sz="1000" dirty="0">
                <a:solidFill>
                  <a:schemeClr val="accent5"/>
                </a:solidFill>
              </a:rPr>
              <a:t>Pick &amp; Pack · NEXAI 2026 · PS 4.2</a:t>
            </a:r>
            <a:endParaRPr lang="en-US" sz="1000" dirty="0"/>
          </a:p>
        </p:txBody>
      </p:sp>
      <p:sp>
        <p:nvSpPr>
          <p:cNvPr id="25" name="Slide Number Placeholder 0"/>
          <p:cNvSpPr>
            <a:spLocks noGrp="1"/>
          </p:cNvSpPr>
          <p:nvPr>
            <p:ph type="sldNum" sz="quarter" idx="4294967295"/>
          </p:nvPr>
        </p:nvSpPr>
        <p:spPr>
          <a:xfrm>
            <a:off x="1109441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9441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3.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slideLayout" Target="../slideLayouts/slideLayout3.xml"/><Relationship Id="rId6"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3.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slideLayout" Target="../slideLayouts/slideLayout3.xml"/><Relationship Id="rId6"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slideLayout" Target="../slideLayouts/slideLayout3.xml"/><Relationship Id="rId5"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3.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3.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slideLayout" Target="../slideLayouts/slideLayout3.xml"/><Relationship Id="rId6"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548640" y="1463040"/>
            <a:ext cx="6400800" cy="1828800"/>
          </a:xfrm>
          <a:prstGeom prst="rect">
            <a:avLst/>
          </a:prstGeom>
          <a:noFill/>
          <a:ln/>
        </p:spPr>
        <p:txBody>
          <a:bodyPr wrap="square" lIns="0" tIns="0" rIns="0" bIns="0" rtlCol="0" anchor="b"/>
          <a:lstStyle/>
          <a:p>
            <a:pPr algn="l" indent="0" marL="0">
              <a:buNone/>
            </a:pPr>
            <a:r>
              <a:rPr lang="en-US" sz="5400" b="1" dirty="0">
                <a:solidFill>
                  <a:schemeClr val="bg1"/>
                </a:solidFill>
              </a:rPr>
              <a:t>Pick &amp; Pack</a:t>
            </a:r>
            <a:endParaRPr lang="en-US" sz="5400" dirty="0"/>
          </a:p>
        </p:txBody>
      </p:sp>
      <p:sp>
        <p:nvSpPr>
          <p:cNvPr id="3" name="Text 0"/>
          <p:cNvSpPr/>
          <p:nvPr>
            <p:ph idx="101" type="body" hasCustomPrompt="1"/>
          </p:nvPr>
        </p:nvSpPr>
        <p:spPr>
          <a:xfrm>
            <a:off x="548640" y="3429000"/>
            <a:ext cx="6400800" cy="1005840"/>
          </a:xfrm>
          <a:prstGeom prst="rect">
            <a:avLst/>
          </a:prstGeom>
          <a:noFill/>
          <a:ln/>
        </p:spPr>
        <p:txBody>
          <a:bodyPr wrap="square" lIns="0" tIns="0" rIns="0" bIns="0" rtlCol="0" anchor="t"/>
          <a:lstStyle/>
          <a:p>
            <a:pPr algn="l" indent="0" marL="0">
              <a:buNone/>
            </a:pPr>
            <a:r>
              <a:rPr lang="en-US" sz="2000" dirty="0">
                <a:solidFill>
                  <a:schemeClr val="accent6"/>
                </a:solidFill>
              </a:rPr>
              <a:t>A warehouse digital twin that replays real orders, so every layout change is measured, not claimed</a:t>
            </a:r>
            <a:endParaRPr lang="en-US" sz="2000" dirty="0"/>
          </a:p>
        </p:txBody>
      </p:sp>
      <p:sp>
        <p:nvSpPr>
          <p:cNvPr id="4" name="Text 2"/>
          <p:cNvSpPr txBox="1"/>
          <p:nvPr/>
        </p:nvSpPr>
        <p:spPr>
          <a:xfrm>
            <a:off x="548640" y="4800600"/>
            <a:ext cx="6583680" cy="365760"/>
          </a:xfrm>
          <a:prstGeom prst="rect">
            <a:avLst/>
          </a:prstGeom>
          <a:noFill/>
          <a:ln/>
        </p:spPr>
        <p:txBody>
          <a:bodyPr wrap="square" lIns="0" tIns="0" rIns="0" bIns="0" rtlCol="0" anchor="ctr"/>
          <a:lstStyle/>
          <a:p>
            <a:pPr indent="0" marL="0">
              <a:buNone/>
            </a:pPr>
            <a:r>
              <a:rPr lang="en-US" sz="1400" b="1" dirty="0">
                <a:solidFill>
                  <a:schemeClr val="accent1"/>
                </a:solidFill>
              </a:rPr>
              <a:t>NEXAI 2026 · Track 4 · PS 4.2 · Jayesh Pani, Megha Gautam, Meet Kumar</a:t>
            </a:r>
            <a:endParaRPr lang="en-US" sz="1400" dirty="0"/>
          </a:p>
        </p:txBody>
      </p:sp>
      <p:sp>
        <p:nvSpPr>
          <p:cNvPr id="5" name="Text 3"/>
          <p:cNvSpPr txBox="1"/>
          <p:nvPr/>
        </p:nvSpPr>
        <p:spPr>
          <a:xfrm>
            <a:off x="548640" y="5212080"/>
            <a:ext cx="6583680" cy="365760"/>
          </a:xfrm>
          <a:prstGeom prst="rect">
            <a:avLst/>
          </a:prstGeom>
          <a:noFill/>
          <a:ln/>
        </p:spPr>
        <p:txBody>
          <a:bodyPr wrap="square" lIns="0" tIns="0" rIns="0" bIns="0" rtlCol="0" anchor="ctr"/>
          <a:lstStyle/>
          <a:p>
            <a:pPr indent="0" marL="0">
              <a:buNone/>
            </a:pPr>
            <a:r>
              <a:rPr lang="en-US" sz="1400" dirty="0">
                <a:solidFill>
                  <a:schemeClr val="accent6"/>
                </a:solidFill>
              </a:rPr>
              <a:t>pick-and-pack-twin.vercel.app · github.com/JayeshPani/NEXAI</a:t>
            </a:r>
            <a:endParaRPr lang="en-US" sz="1400" dirty="0"/>
          </a:p>
        </p:txBody>
      </p:sp>
      <p:pic>
        <p:nvPicPr>
          <p:cNvPr id="6" name="Aisle photo" descr="/private/tmp/claude-501/-Users-meghagautam-Desktop-NexAI/7e06456b-d112-4e56-b42b-9598c9c036e7/scratchpad/deck/shots/aisle.png">    </p:cNvPr>
          <p:cNvPicPr>
            <a:picLocks noChangeAspect="1"/>
          </p:cNvPicPr>
          <p:nvPr/>
        </p:nvPicPr>
        <p:blipFill>
          <a:blip r:embed="rId1"/>
          <a:srcRect l="0" r="0" t="0" b="0"/>
          <a:stretch/>
        </p:blipFill>
        <p:spPr>
          <a:xfrm>
            <a:off x="7269480" y="0"/>
            <a:ext cx="4922215" cy="685800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411480"/>
            <a:ext cx="11094415" cy="731520"/>
          </a:xfrm>
          <a:prstGeom prst="rect">
            <a:avLst/>
          </a:prstGeom>
          <a:noFill/>
          <a:ln/>
        </p:spPr>
        <p:txBody>
          <a:bodyPr wrap="square" lIns="0" tIns="0" rIns="0" bIns="0" rtlCol="0" anchor="ctr"/>
          <a:lstStyle/>
          <a:p>
            <a:pPr algn="l" indent="0" marL="0">
              <a:buNone/>
            </a:pPr>
            <a:r>
              <a:rPr lang="en-US" sz="2800" b="1" dirty="0">
                <a:solidFill>
                  <a:schemeClr val="tx1"/>
                </a:solidFill>
              </a:rPr>
              <a:t>Pickers walk more than they pick, and slotting decides the walk</a:t>
            </a:r>
            <a:endParaRPr lang="en-US" sz="2800" dirty="0"/>
          </a:p>
        </p:txBody>
      </p:sp>
      <p:sp>
        <p:nvSpPr>
          <p:cNvPr id="3" name="Badge"/>
          <p:cNvSpPr/>
          <p:nvPr/>
        </p:nvSpPr>
        <p:spPr>
          <a:xfrm>
            <a:off x="548640" y="1600200"/>
            <a:ext cx="566928" cy="566928"/>
          </a:xfrm>
          <a:prstGeom prst="ellipse">
            <a:avLst/>
          </a:prstGeom>
          <a:solidFill>
            <a:schemeClr val="accent1"/>
          </a:solidFill>
          <a:ln w="12700">
            <a:solidFill>
              <a:schemeClr val="accent1"/>
            </a:solidFill>
            <a:prstDash val="solid"/>
          </a:ln>
        </p:spPr>
      </p:sp>
      <p:pic>
        <p:nvPicPr>
          <p:cNvPr id="4" name="Badge icon" descr="preencoded.png">    </p:cNvPr>
          <p:cNvPicPr>
            <a:picLocks noChangeAspect="1"/>
          </p:cNvPicPr>
          <p:nvPr/>
        </p:nvPicPr>
        <p:blipFill>
          <a:blip r:embed="rId1"/>
          <a:stretch>
            <a:fillRect/>
          </a:stretch>
        </p:blipFill>
        <p:spPr>
          <a:xfrm>
            <a:off x="684703" y="1736263"/>
            <a:ext cx="294803" cy="294803"/>
          </a:xfrm>
          <a:prstGeom prst="rect">
            <a:avLst/>
          </a:prstGeom>
        </p:spPr>
      </p:pic>
      <p:sp>
        <p:nvSpPr>
          <p:cNvPr id="5" name="Text 2"/>
          <p:cNvSpPr txBox="1"/>
          <p:nvPr/>
        </p:nvSpPr>
        <p:spPr>
          <a:xfrm>
            <a:off x="1371600" y="1554480"/>
            <a:ext cx="5120640" cy="411480"/>
          </a:xfrm>
          <a:prstGeom prst="rect">
            <a:avLst/>
          </a:prstGeom>
          <a:noFill/>
          <a:ln/>
        </p:spPr>
        <p:txBody>
          <a:bodyPr wrap="square" lIns="0" tIns="0" rIns="0" bIns="0" rtlCol="0" anchor="ctr"/>
          <a:lstStyle/>
          <a:p>
            <a:pPr indent="0" marL="0">
              <a:buNone/>
            </a:pPr>
            <a:r>
              <a:rPr lang="en-US" sz="2000" b="1" dirty="0">
                <a:solidFill>
                  <a:schemeClr val="tx1"/>
                </a:solidFill>
              </a:rPr>
              <a:t>Walking is the hidden cost</a:t>
            </a:r>
            <a:endParaRPr lang="en-US" sz="2000" dirty="0"/>
          </a:p>
        </p:txBody>
      </p:sp>
      <p:sp>
        <p:nvSpPr>
          <p:cNvPr id="6" name="Text 3"/>
          <p:cNvSpPr txBox="1"/>
          <p:nvPr/>
        </p:nvSpPr>
        <p:spPr>
          <a:xfrm>
            <a:off x="1371600" y="1984248"/>
            <a:ext cx="5120640" cy="731520"/>
          </a:xfrm>
          <a:prstGeom prst="rect">
            <a:avLst/>
          </a:prstGeom>
          <a:noFill/>
          <a:ln/>
        </p:spPr>
        <p:txBody>
          <a:bodyPr wrap="square" lIns="0" tIns="0" rIns="0" bIns="0" rtlCol="0" anchor="t"/>
          <a:lstStyle/>
          <a:p>
            <a:pPr indent="0" marL="0">
              <a:buNone/>
            </a:pPr>
            <a:r>
              <a:rPr lang="en-US" sz="1500" dirty="0">
                <a:solidFill>
                  <a:schemeClr val="tx2"/>
                </a:solidFill>
              </a:rPr>
              <a:t>In picker-to-shelf warehouses, travel is typically the largest share of a picker's time.</a:t>
            </a:r>
            <a:endParaRPr lang="en-US" sz="1500" dirty="0"/>
          </a:p>
        </p:txBody>
      </p:sp>
      <p:sp>
        <p:nvSpPr>
          <p:cNvPr id="7" name="Badge"/>
          <p:cNvSpPr/>
          <p:nvPr/>
        </p:nvSpPr>
        <p:spPr>
          <a:xfrm>
            <a:off x="548640" y="2971800"/>
            <a:ext cx="566928" cy="566928"/>
          </a:xfrm>
          <a:prstGeom prst="ellipse">
            <a:avLst/>
          </a:prstGeom>
          <a:solidFill>
            <a:schemeClr val="accent1"/>
          </a:solidFill>
          <a:ln w="12700">
            <a:solidFill>
              <a:schemeClr val="accent1"/>
            </a:solidFill>
            <a:prstDash val="solid"/>
          </a:ln>
        </p:spPr>
      </p:sp>
      <p:pic>
        <p:nvPicPr>
          <p:cNvPr id="8" name="Badge icon" descr="preencoded.png">    </p:cNvPr>
          <p:cNvPicPr>
            <a:picLocks noChangeAspect="1"/>
          </p:cNvPicPr>
          <p:nvPr/>
        </p:nvPicPr>
        <p:blipFill>
          <a:blip r:embed="rId2"/>
          <a:stretch>
            <a:fillRect/>
          </a:stretch>
        </p:blipFill>
        <p:spPr>
          <a:xfrm>
            <a:off x="684703" y="3107863"/>
            <a:ext cx="294803" cy="294803"/>
          </a:xfrm>
          <a:prstGeom prst="rect">
            <a:avLst/>
          </a:prstGeom>
        </p:spPr>
      </p:pic>
      <p:sp>
        <p:nvSpPr>
          <p:cNvPr id="9" name="Text 5"/>
          <p:cNvSpPr txBox="1"/>
          <p:nvPr/>
        </p:nvSpPr>
        <p:spPr>
          <a:xfrm>
            <a:off x="1371600" y="2926080"/>
            <a:ext cx="5120640" cy="411480"/>
          </a:xfrm>
          <a:prstGeom prst="rect">
            <a:avLst/>
          </a:prstGeom>
          <a:noFill/>
          <a:ln/>
        </p:spPr>
        <p:txBody>
          <a:bodyPr wrap="square" lIns="0" tIns="0" rIns="0" bIns="0" rtlCol="0" anchor="ctr"/>
          <a:lstStyle/>
          <a:p>
            <a:pPr indent="0" marL="0">
              <a:buNone/>
            </a:pPr>
            <a:r>
              <a:rPr lang="en-US" sz="2000" b="1" dirty="0">
                <a:solidFill>
                  <a:schemeClr val="tx1"/>
                </a:solidFill>
              </a:rPr>
              <a:t>Where a product sits decides the walk</a:t>
            </a:r>
            <a:endParaRPr lang="en-US" sz="2000" dirty="0"/>
          </a:p>
        </p:txBody>
      </p:sp>
      <p:sp>
        <p:nvSpPr>
          <p:cNvPr id="10" name="Text 6"/>
          <p:cNvSpPr txBox="1"/>
          <p:nvPr/>
        </p:nvSpPr>
        <p:spPr>
          <a:xfrm>
            <a:off x="1371600" y="3355848"/>
            <a:ext cx="5120640" cy="731520"/>
          </a:xfrm>
          <a:prstGeom prst="rect">
            <a:avLst/>
          </a:prstGeom>
          <a:noFill/>
          <a:ln/>
        </p:spPr>
        <p:txBody>
          <a:bodyPr wrap="square" lIns="0" tIns="0" rIns="0" bIns="0" rtlCol="0" anchor="t"/>
          <a:lstStyle/>
          <a:p>
            <a:pPr indent="0" marL="0">
              <a:buNone/>
            </a:pPr>
            <a:r>
              <a:rPr lang="en-US" sz="1500" dirty="0">
                <a:solidFill>
                  <a:schemeClr val="tx2"/>
                </a:solidFill>
              </a:rPr>
              <a:t>Fast movers far from the dock, or items bought together far apart, add metres to every order.</a:t>
            </a:r>
            <a:endParaRPr lang="en-US" sz="1500" dirty="0"/>
          </a:p>
        </p:txBody>
      </p:sp>
      <p:sp>
        <p:nvSpPr>
          <p:cNvPr id="11" name="Badge"/>
          <p:cNvSpPr/>
          <p:nvPr/>
        </p:nvSpPr>
        <p:spPr>
          <a:xfrm>
            <a:off x="548640" y="4343400"/>
            <a:ext cx="566928" cy="566928"/>
          </a:xfrm>
          <a:prstGeom prst="ellipse">
            <a:avLst/>
          </a:prstGeom>
          <a:solidFill>
            <a:schemeClr val="accent1"/>
          </a:solidFill>
          <a:ln w="12700">
            <a:solidFill>
              <a:schemeClr val="accent1"/>
            </a:solidFill>
            <a:prstDash val="solid"/>
          </a:ln>
        </p:spPr>
      </p:sp>
      <p:pic>
        <p:nvPicPr>
          <p:cNvPr id="12" name="Badge icon" descr="preencoded.png">    </p:cNvPr>
          <p:cNvPicPr>
            <a:picLocks noChangeAspect="1"/>
          </p:cNvPicPr>
          <p:nvPr/>
        </p:nvPicPr>
        <p:blipFill>
          <a:blip r:embed="rId3"/>
          <a:stretch>
            <a:fillRect/>
          </a:stretch>
        </p:blipFill>
        <p:spPr>
          <a:xfrm>
            <a:off x="684703" y="4479463"/>
            <a:ext cx="294803" cy="294803"/>
          </a:xfrm>
          <a:prstGeom prst="rect">
            <a:avLst/>
          </a:prstGeom>
        </p:spPr>
      </p:pic>
      <p:sp>
        <p:nvSpPr>
          <p:cNvPr id="13" name="Text 8"/>
          <p:cNvSpPr txBox="1"/>
          <p:nvPr/>
        </p:nvSpPr>
        <p:spPr>
          <a:xfrm>
            <a:off x="1371600" y="4297680"/>
            <a:ext cx="5120640" cy="411480"/>
          </a:xfrm>
          <a:prstGeom prst="rect">
            <a:avLst/>
          </a:prstGeom>
          <a:noFill/>
          <a:ln/>
        </p:spPr>
        <p:txBody>
          <a:bodyPr wrap="square" lIns="0" tIns="0" rIns="0" bIns="0" rtlCol="0" anchor="ctr"/>
          <a:lstStyle/>
          <a:p>
            <a:pPr indent="0" marL="0">
              <a:buNone/>
            </a:pPr>
            <a:r>
              <a:rPr lang="en-US" sz="2000" b="1" dirty="0">
                <a:solidFill>
                  <a:schemeClr val="tx1"/>
                </a:solidFill>
              </a:rPr>
              <a:t>Decided once, lived with for months</a:t>
            </a:r>
            <a:endParaRPr lang="en-US" sz="2000" dirty="0"/>
          </a:p>
        </p:txBody>
      </p:sp>
      <p:sp>
        <p:nvSpPr>
          <p:cNvPr id="14" name="Text 9"/>
          <p:cNvSpPr txBox="1"/>
          <p:nvPr/>
        </p:nvSpPr>
        <p:spPr>
          <a:xfrm>
            <a:off x="1371600" y="4727448"/>
            <a:ext cx="5120640" cy="731520"/>
          </a:xfrm>
          <a:prstGeom prst="rect">
            <a:avLst/>
          </a:prstGeom>
          <a:noFill/>
          <a:ln/>
        </p:spPr>
        <p:txBody>
          <a:bodyPr wrap="square" lIns="0" tIns="0" rIns="0" bIns="0" rtlCol="0" anchor="t"/>
          <a:lstStyle/>
          <a:p>
            <a:pPr indent="0" marL="0">
              <a:buNone/>
            </a:pPr>
            <a:r>
              <a:rPr lang="en-US" sz="1500" dirty="0">
                <a:solidFill>
                  <a:schemeClr val="tx2"/>
                </a:solidFill>
              </a:rPr>
              <a:t>Re-slotting is expensive, so a layout change needs proof before anyone moves stock.</a:t>
            </a:r>
            <a:endParaRPr lang="en-US" sz="1500" dirty="0"/>
          </a:p>
        </p:txBody>
      </p:sp>
      <p:pic>
        <p:nvPicPr>
          <p:cNvPr id="15" name="Screenshot twin" descr="/private/tmp/claude-501/-Users-meghagautam-Desktop-NexAI/7e06456b-d112-4e56-b42b-9598c9c036e7/scratchpad/deck/shots/twin.png">    </p:cNvPr>
          <p:cNvPicPr>
            <a:picLocks noChangeAspect="1"/>
          </p:cNvPicPr>
          <p:nvPr/>
        </p:nvPicPr>
        <p:blipFill>
          <a:blip r:embed="rId4"/>
          <a:stretch>
            <a:fillRect/>
          </a:stretch>
        </p:blipFill>
        <p:spPr>
          <a:xfrm>
            <a:off x="6675120" y="1691640"/>
            <a:ext cx="4983480" cy="2803208"/>
          </a:xfrm>
          <a:prstGeom prst="rect">
            <a:avLst/>
          </a:prstGeom>
          <a:effectLst>
            <a:outerShdw sx="100000" sy="100000" kx="0" ky="0" algn="bl" rotWithShape="0" blurRad="101600" dist="25400" dir="5400000">
              <a:srgbClr val="1D2433">
                <a:alpha val="18000"/>
              </a:srgbClr>
            </a:outerShdw>
          </a:effectLst>
        </p:spPr>
      </p:pic>
      <p:sp>
        <p:nvSpPr>
          <p:cNvPr id="16" name="Text 10"/>
          <p:cNvSpPr txBox="1"/>
          <p:nvPr/>
        </p:nvSpPr>
        <p:spPr>
          <a:xfrm>
            <a:off x="6675120" y="4663440"/>
            <a:ext cx="4983480" cy="731520"/>
          </a:xfrm>
          <a:prstGeom prst="rect">
            <a:avLst/>
          </a:prstGeom>
          <a:noFill/>
          <a:ln/>
        </p:spPr>
        <p:txBody>
          <a:bodyPr wrap="square" lIns="0" tIns="0" rIns="0" bIns="0" rtlCol="0" anchor="ctr"/>
          <a:lstStyle/>
          <a:p>
            <a:pPr indent="0" marL="0">
              <a:buNone/>
            </a:pPr>
            <a:r>
              <a:rPr lang="en-US" sz="1500" i="1" dirty="0">
                <a:solidFill>
                  <a:schemeClr val="tx2"/>
                </a:solidFill>
              </a:rPr>
              <a:t>Our answer: a 3D twin driven by real orders, where every change is replayed on the same orders</a:t>
            </a:r>
            <a:endParaRPr lang="en-US" sz="1500" dirty="0"/>
          </a:p>
        </p:txBody>
      </p:sp>
      <p:sp>
        <p:nvSpPr>
          <p:cNvPr id="25" name="Slide Number Placeholder 0"/>
          <p:cNvSpPr>
            <a:spLocks noGrp="1"/>
          </p:cNvSpPr>
          <p:nvPr>
            <p:ph type="sldNum" sz="quarter" idx="4294967295"/>
          </p:nvPr>
        </p:nvSpPr>
        <p:spPr>
          <a:xfrm>
            <a:off x="1109441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411480"/>
            <a:ext cx="11094415" cy="731520"/>
          </a:xfrm>
          <a:prstGeom prst="rect">
            <a:avLst/>
          </a:prstGeom>
          <a:noFill/>
          <a:ln/>
        </p:spPr>
        <p:txBody>
          <a:bodyPr wrap="square" lIns="0" tIns="0" rIns="0" bIns="0" rtlCol="0" anchor="ctr"/>
          <a:lstStyle/>
          <a:p>
            <a:pPr algn="l" indent="0" marL="0">
              <a:buNone/>
            </a:pPr>
            <a:r>
              <a:rPr lang="en-US" sz="2800" b="1" dirty="0">
                <a:solidFill>
                  <a:schemeClr val="tx1"/>
                </a:solidFill>
              </a:rPr>
              <a:t>Real orders, and an honest split between learning and scoring</a:t>
            </a:r>
            <a:endParaRPr lang="en-US" sz="2800" dirty="0"/>
          </a:p>
        </p:txBody>
      </p:sp>
      <p:sp>
        <p:nvSpPr>
          <p:cNvPr id="3" name="Card"/>
          <p:cNvSpPr/>
          <p:nvPr/>
        </p:nvSpPr>
        <p:spPr>
          <a:xfrm>
            <a:off x="548640" y="1508760"/>
            <a:ext cx="2606040" cy="1600200"/>
          </a:xfrm>
          <a:prstGeom prst="roundRect">
            <a:avLst>
              <a:gd name="adj" fmla="val 4571"/>
            </a:avLst>
          </a:prstGeom>
          <a:solidFill>
            <a:schemeClr val="bg2"/>
          </a:solidFill>
          <a:ln w="12700">
            <a:solidFill>
              <a:schemeClr val="bg2"/>
            </a:solidFill>
            <a:prstDash val="solid"/>
          </a:ln>
        </p:spPr>
      </p:sp>
      <p:sp>
        <p:nvSpPr>
          <p:cNvPr id="4" name="Text 2"/>
          <p:cNvSpPr txBox="1"/>
          <p:nvPr/>
        </p:nvSpPr>
        <p:spPr>
          <a:xfrm>
            <a:off x="777240" y="1645920"/>
            <a:ext cx="2194560" cy="685800"/>
          </a:xfrm>
          <a:prstGeom prst="rect">
            <a:avLst/>
          </a:prstGeom>
          <a:noFill/>
          <a:ln/>
        </p:spPr>
        <p:txBody>
          <a:bodyPr wrap="square" lIns="0" tIns="0" rIns="0" bIns="0" rtlCol="0" anchor="ctr"/>
          <a:lstStyle/>
          <a:p>
            <a:pPr indent="0" marL="0">
              <a:buNone/>
            </a:pPr>
            <a:r>
              <a:rPr lang="en-US" sz="3600" b="1" dirty="0">
                <a:solidFill>
                  <a:schemeClr val="tx1"/>
                </a:solidFill>
                <a:latin typeface="Arial" pitchFamily="34" charset="0"/>
                <a:ea typeface="Arial" pitchFamily="34" charset="-122"/>
                <a:cs typeface="Arial" pitchFamily="34" charset="-120"/>
              </a:rPr>
              <a:t>541,910</a:t>
            </a:r>
            <a:endParaRPr lang="en-US" sz="3600" dirty="0"/>
          </a:p>
        </p:txBody>
      </p:sp>
      <p:sp>
        <p:nvSpPr>
          <p:cNvPr id="5" name="Text 3"/>
          <p:cNvSpPr txBox="1"/>
          <p:nvPr/>
        </p:nvSpPr>
        <p:spPr>
          <a:xfrm>
            <a:off x="777240" y="2331720"/>
            <a:ext cx="2194560" cy="685800"/>
          </a:xfrm>
          <a:prstGeom prst="rect">
            <a:avLst/>
          </a:prstGeom>
          <a:noFill/>
          <a:ln/>
        </p:spPr>
        <p:txBody>
          <a:bodyPr wrap="square" lIns="0" tIns="0" rIns="0" bIns="0" rtlCol="0" anchor="t"/>
          <a:lstStyle/>
          <a:p>
            <a:pPr indent="0" marL="0">
              <a:buNone/>
            </a:pPr>
            <a:r>
              <a:rPr lang="en-US" sz="1400" dirty="0">
                <a:solidFill>
                  <a:schemeClr val="tx2"/>
                </a:solidFill>
              </a:rPr>
              <a:t>rows in Online Retail II (UCI)</a:t>
            </a:r>
            <a:endParaRPr lang="en-US" sz="1400" dirty="0"/>
          </a:p>
        </p:txBody>
      </p:sp>
      <p:sp>
        <p:nvSpPr>
          <p:cNvPr id="6" name="Card"/>
          <p:cNvSpPr/>
          <p:nvPr/>
        </p:nvSpPr>
        <p:spPr>
          <a:xfrm>
            <a:off x="3355848" y="1508760"/>
            <a:ext cx="2606040" cy="1600200"/>
          </a:xfrm>
          <a:prstGeom prst="roundRect">
            <a:avLst>
              <a:gd name="adj" fmla="val 4571"/>
            </a:avLst>
          </a:prstGeom>
          <a:solidFill>
            <a:schemeClr val="bg2"/>
          </a:solidFill>
          <a:ln w="12700">
            <a:solidFill>
              <a:schemeClr val="bg2"/>
            </a:solidFill>
            <a:prstDash val="solid"/>
          </a:ln>
        </p:spPr>
      </p:sp>
      <p:sp>
        <p:nvSpPr>
          <p:cNvPr id="7" name="Text 5"/>
          <p:cNvSpPr txBox="1"/>
          <p:nvPr/>
        </p:nvSpPr>
        <p:spPr>
          <a:xfrm>
            <a:off x="3584448" y="1645920"/>
            <a:ext cx="2194560" cy="685800"/>
          </a:xfrm>
          <a:prstGeom prst="rect">
            <a:avLst/>
          </a:prstGeom>
          <a:noFill/>
          <a:ln/>
        </p:spPr>
        <p:txBody>
          <a:bodyPr wrap="square" lIns="0" tIns="0" rIns="0" bIns="0" rtlCol="0" anchor="ctr"/>
          <a:lstStyle/>
          <a:p>
            <a:pPr indent="0" marL="0">
              <a:buNone/>
            </a:pPr>
            <a:r>
              <a:rPr lang="en-US" sz="3600" b="1" dirty="0">
                <a:solidFill>
                  <a:schemeClr val="tx1"/>
                </a:solidFill>
                <a:latin typeface="Arial" pitchFamily="34" charset="0"/>
                <a:ea typeface="Arial" pitchFamily="34" charset="-122"/>
                <a:cs typeface="Arial" pitchFamily="34" charset="-120"/>
              </a:rPr>
              <a:t>527,725</a:t>
            </a:r>
            <a:endParaRPr lang="en-US" sz="3600" dirty="0"/>
          </a:p>
        </p:txBody>
      </p:sp>
      <p:sp>
        <p:nvSpPr>
          <p:cNvPr id="8" name="Text 6"/>
          <p:cNvSpPr txBox="1"/>
          <p:nvPr/>
        </p:nvSpPr>
        <p:spPr>
          <a:xfrm>
            <a:off x="3584448" y="2331720"/>
            <a:ext cx="2194560" cy="685800"/>
          </a:xfrm>
          <a:prstGeom prst="rect">
            <a:avLst/>
          </a:prstGeom>
          <a:noFill/>
          <a:ln/>
        </p:spPr>
        <p:txBody>
          <a:bodyPr wrap="square" lIns="0" tIns="0" rIns="0" bIns="0" rtlCol="0" anchor="t"/>
          <a:lstStyle/>
          <a:p>
            <a:pPr indent="0" marL="0">
              <a:buNone/>
            </a:pPr>
            <a:r>
              <a:rPr lang="en-US" sz="1400" dirty="0">
                <a:solidFill>
                  <a:schemeClr val="tx2"/>
                </a:solidFill>
              </a:rPr>
              <a:t>after removing cancellations, returns and non-products</a:t>
            </a:r>
            <a:endParaRPr lang="en-US" sz="1400" dirty="0"/>
          </a:p>
        </p:txBody>
      </p:sp>
      <p:sp>
        <p:nvSpPr>
          <p:cNvPr id="9" name="Card"/>
          <p:cNvSpPr/>
          <p:nvPr/>
        </p:nvSpPr>
        <p:spPr>
          <a:xfrm>
            <a:off x="6163056" y="1508760"/>
            <a:ext cx="2606040" cy="1600200"/>
          </a:xfrm>
          <a:prstGeom prst="roundRect">
            <a:avLst>
              <a:gd name="adj" fmla="val 4571"/>
            </a:avLst>
          </a:prstGeom>
          <a:solidFill>
            <a:schemeClr val="bg2"/>
          </a:solidFill>
          <a:ln w="12700">
            <a:solidFill>
              <a:schemeClr val="bg2"/>
            </a:solidFill>
            <a:prstDash val="solid"/>
          </a:ln>
        </p:spPr>
      </p:sp>
      <p:sp>
        <p:nvSpPr>
          <p:cNvPr id="10" name="Text 8"/>
          <p:cNvSpPr txBox="1"/>
          <p:nvPr/>
        </p:nvSpPr>
        <p:spPr>
          <a:xfrm>
            <a:off x="6391656" y="1645920"/>
            <a:ext cx="2194560" cy="685800"/>
          </a:xfrm>
          <a:prstGeom prst="rect">
            <a:avLst/>
          </a:prstGeom>
          <a:noFill/>
          <a:ln/>
        </p:spPr>
        <p:txBody>
          <a:bodyPr wrap="square" lIns="0" tIns="0" rIns="0" bIns="0" rtlCol="0" anchor="ctr"/>
          <a:lstStyle/>
          <a:p>
            <a:pPr indent="0" marL="0">
              <a:buNone/>
            </a:pPr>
            <a:r>
              <a:rPr lang="en-US" sz="3600" b="1" dirty="0">
                <a:solidFill>
                  <a:schemeClr val="tx1"/>
                </a:solidFill>
                <a:latin typeface="Arial" pitchFamily="34" charset="0"/>
                <a:ea typeface="Arial" pitchFamily="34" charset="-122"/>
                <a:cs typeface="Arial" pitchFamily="34" charset="-120"/>
              </a:rPr>
              <a:t>100</a:t>
            </a:r>
            <a:endParaRPr lang="en-US" sz="3600" dirty="0"/>
          </a:p>
        </p:txBody>
      </p:sp>
      <p:sp>
        <p:nvSpPr>
          <p:cNvPr id="11" name="Text 9"/>
          <p:cNvSpPr txBox="1"/>
          <p:nvPr/>
        </p:nvSpPr>
        <p:spPr>
          <a:xfrm>
            <a:off x="6391656" y="2331720"/>
            <a:ext cx="2194560" cy="685800"/>
          </a:xfrm>
          <a:prstGeom prst="rect">
            <a:avLst/>
          </a:prstGeom>
          <a:noFill/>
          <a:ln/>
        </p:spPr>
        <p:txBody>
          <a:bodyPr wrap="square" lIns="0" tIns="0" rIns="0" bIns="0" rtlCol="0" anchor="t"/>
          <a:lstStyle/>
          <a:p>
            <a:pPr indent="0" marL="0">
              <a:buNone/>
            </a:pPr>
            <a:r>
              <a:rPr lang="en-US" sz="1400" dirty="0">
                <a:solidFill>
                  <a:schemeClr val="tx2"/>
                </a:solidFill>
              </a:rPr>
              <a:t>products: the most-picked in the learn weeks</a:t>
            </a:r>
            <a:endParaRPr lang="en-US" sz="1400" dirty="0"/>
          </a:p>
        </p:txBody>
      </p:sp>
      <p:sp>
        <p:nvSpPr>
          <p:cNvPr id="12" name="Card"/>
          <p:cNvSpPr/>
          <p:nvPr/>
        </p:nvSpPr>
        <p:spPr>
          <a:xfrm>
            <a:off x="8970264" y="1508760"/>
            <a:ext cx="2606040" cy="1600200"/>
          </a:xfrm>
          <a:prstGeom prst="roundRect">
            <a:avLst>
              <a:gd name="adj" fmla="val 4571"/>
            </a:avLst>
          </a:prstGeom>
          <a:solidFill>
            <a:schemeClr val="bg2"/>
          </a:solidFill>
          <a:ln w="12700">
            <a:solidFill>
              <a:schemeClr val="bg2"/>
            </a:solidFill>
            <a:prstDash val="solid"/>
          </a:ln>
        </p:spPr>
      </p:sp>
      <p:sp>
        <p:nvSpPr>
          <p:cNvPr id="13" name="Text 11"/>
          <p:cNvSpPr txBox="1"/>
          <p:nvPr/>
        </p:nvSpPr>
        <p:spPr>
          <a:xfrm>
            <a:off x="9198864" y="1645920"/>
            <a:ext cx="2194560" cy="685800"/>
          </a:xfrm>
          <a:prstGeom prst="rect">
            <a:avLst/>
          </a:prstGeom>
          <a:noFill/>
          <a:ln/>
        </p:spPr>
        <p:txBody>
          <a:bodyPr wrap="square" lIns="0" tIns="0" rIns="0" bIns="0" rtlCol="0" anchor="ctr"/>
          <a:lstStyle/>
          <a:p>
            <a:pPr indent="0" marL="0">
              <a:buNone/>
            </a:pPr>
            <a:r>
              <a:rPr lang="en-US" sz="3600" b="1" dirty="0">
                <a:solidFill>
                  <a:schemeClr val="tx1"/>
                </a:solidFill>
                <a:latin typeface="Arial" pitchFamily="34" charset="0"/>
                <a:ea typeface="Arial" pitchFamily="34" charset="-122"/>
                <a:cs typeface="Arial" pitchFamily="34" charset="-120"/>
              </a:rPr>
              <a:t>735</a:t>
            </a:r>
            <a:endParaRPr lang="en-US" sz="3600" dirty="0"/>
          </a:p>
        </p:txBody>
      </p:sp>
      <p:sp>
        <p:nvSpPr>
          <p:cNvPr id="14" name="Text 12"/>
          <p:cNvSpPr txBox="1"/>
          <p:nvPr/>
        </p:nvSpPr>
        <p:spPr>
          <a:xfrm>
            <a:off x="9198864" y="2331720"/>
            <a:ext cx="2194560" cy="685800"/>
          </a:xfrm>
          <a:prstGeom prst="rect">
            <a:avLst/>
          </a:prstGeom>
          <a:noFill/>
          <a:ln/>
        </p:spPr>
        <p:txBody>
          <a:bodyPr wrap="square" lIns="0" tIns="0" rIns="0" bIns="0" rtlCol="0" anchor="t"/>
          <a:lstStyle/>
          <a:p>
            <a:pPr indent="0" marL="0">
              <a:buNone/>
            </a:pPr>
            <a:r>
              <a:rPr lang="en-US" sz="1400" dirty="0">
                <a:solidFill>
                  <a:schemeClr val="tx2"/>
                </a:solidFill>
              </a:rPr>
              <a:t>test-week orders every result is scored on</a:t>
            </a:r>
            <a:endParaRPr lang="en-US" sz="1400" dirty="0"/>
          </a:p>
        </p:txBody>
      </p:sp>
      <p:sp>
        <p:nvSpPr>
          <p:cNvPr id="15" name="Learn weeks"/>
          <p:cNvSpPr/>
          <p:nvPr/>
        </p:nvSpPr>
        <p:spPr>
          <a:xfrm>
            <a:off x="548640" y="3794760"/>
            <a:ext cx="7766091" cy="640080"/>
          </a:xfrm>
          <a:prstGeom prst="rect">
            <a:avLst/>
          </a:prstGeom>
          <a:solidFill>
            <a:schemeClr val="accent4"/>
          </a:solidFill>
          <a:ln w="12700">
            <a:solidFill>
              <a:schemeClr val="accent4"/>
            </a:solidFill>
            <a:prstDash val="solid"/>
          </a:ln>
        </p:spPr>
      </p:sp>
      <p:sp>
        <p:nvSpPr>
          <p:cNvPr id="16" name="Test week"/>
          <p:cNvSpPr/>
          <p:nvPr/>
        </p:nvSpPr>
        <p:spPr>
          <a:xfrm>
            <a:off x="8314731" y="3794760"/>
            <a:ext cx="3328325" cy="640080"/>
          </a:xfrm>
          <a:prstGeom prst="rect">
            <a:avLst/>
          </a:prstGeom>
          <a:solidFill>
            <a:schemeClr val="accent1"/>
          </a:solidFill>
          <a:ln w="12700">
            <a:solidFill>
              <a:schemeClr val="accent1"/>
            </a:solidFill>
            <a:prstDash val="solid"/>
          </a:ln>
        </p:spPr>
      </p:sp>
      <p:sp>
        <p:nvSpPr>
          <p:cNvPr id="17" name="Text 15"/>
          <p:cNvSpPr txBox="1"/>
          <p:nvPr/>
        </p:nvSpPr>
        <p:spPr>
          <a:xfrm>
            <a:off x="731520" y="3794760"/>
            <a:ext cx="7400331" cy="640080"/>
          </a:xfrm>
          <a:prstGeom prst="rect">
            <a:avLst/>
          </a:prstGeom>
          <a:noFill/>
          <a:ln/>
        </p:spPr>
        <p:txBody>
          <a:bodyPr wrap="square" lIns="0" tIns="0" rIns="0" bIns="0" rtlCol="0" anchor="ctr"/>
          <a:lstStyle/>
          <a:p>
            <a:pPr indent="0" marL="0">
              <a:buNone/>
            </a:pPr>
            <a:r>
              <a:rPr lang="en-US" sz="1600" b="1" dirty="0">
                <a:solidFill>
                  <a:schemeClr val="bg1"/>
                </a:solidFill>
              </a:rPr>
              <a:t>Learn: 1–21 Nov 2011 · 1,617 orders</a:t>
            </a:r>
            <a:endParaRPr lang="en-US" sz="1600" dirty="0"/>
          </a:p>
        </p:txBody>
      </p:sp>
      <p:sp>
        <p:nvSpPr>
          <p:cNvPr id="18" name="Text 16"/>
          <p:cNvSpPr txBox="1"/>
          <p:nvPr/>
        </p:nvSpPr>
        <p:spPr>
          <a:xfrm>
            <a:off x="8451891" y="3794760"/>
            <a:ext cx="3054005" cy="640080"/>
          </a:xfrm>
          <a:prstGeom prst="rect">
            <a:avLst/>
          </a:prstGeom>
          <a:noFill/>
          <a:ln/>
        </p:spPr>
        <p:txBody>
          <a:bodyPr wrap="square" lIns="0" tIns="0" rIns="0" bIns="0" rtlCol="0" anchor="ctr"/>
          <a:lstStyle/>
          <a:p>
            <a:pPr indent="0" marL="0">
              <a:buNone/>
            </a:pPr>
            <a:r>
              <a:rPr lang="en-US" sz="1600" b="1" dirty="0">
                <a:solidFill>
                  <a:schemeClr val="tx1"/>
                </a:solidFill>
              </a:rPr>
              <a:t>Test: 22–30 Nov · 735</a:t>
            </a:r>
            <a:endParaRPr lang="en-US" sz="1600" dirty="0"/>
          </a:p>
        </p:txBody>
      </p:sp>
      <p:sp>
        <p:nvSpPr>
          <p:cNvPr id="19" name="Text 17"/>
          <p:cNvSpPr txBox="1"/>
          <p:nvPr/>
        </p:nvSpPr>
        <p:spPr>
          <a:xfrm>
            <a:off x="548640" y="4663440"/>
            <a:ext cx="11094415" cy="1371600"/>
          </a:xfrm>
          <a:prstGeom prst="rect">
            <a:avLst/>
          </a:prstGeom>
          <a:noFill/>
          <a:ln/>
        </p:spPr>
        <p:txBody>
          <a:bodyPr wrap="square" lIns="0" tIns="0" rIns="0" bIns="0" rtlCol="0" anchor="t"/>
          <a:lstStyle/>
          <a:p>
            <a:pPr marL="342900" indent="-342900">
              <a:spcAft>
                <a:spcPts val="600"/>
              </a:spcAft>
              <a:buSzPct val="100000"/>
              <a:buChar char="•"/>
            </a:pPr>
            <a:r>
              <a:rPr lang="en-US" sz="1500" dirty="0">
                <a:solidFill>
                  <a:schemeClr val="tx1"/>
                </a:solidFill>
              </a:rPr>
              <a:t>Top 100 products, classes, bought-together pairs, the Baseline and AI Suggest use the learn weeks only.</a:t>
            </a:r>
            <a:endParaRPr lang="en-US" sz="1500" dirty="0"/>
          </a:p>
          <a:p>
            <a:pPr marL="342900" indent="-342900">
              <a:spcAft>
                <a:spcPts val="600"/>
              </a:spcAft>
              <a:buSzPct val="100000"/>
              <a:buChar char="•"/>
            </a:pPr>
            <a:r>
              <a:rPr lang="en-US" sz="1500" dirty="0">
                <a:solidFill>
                  <a:schemeClr val="tx1"/>
                </a:solidFill>
              </a:rPr>
              <a:t>Every reported result is on the test week. Even the player's score stays hidden until they submit.</a:t>
            </a:r>
            <a:endParaRPr lang="en-US" sz="1500" dirty="0"/>
          </a:p>
          <a:p>
            <a:pPr marL="342900" indent="-342900">
              <a:spcAft>
                <a:spcPts val="600"/>
              </a:spcAft>
              <a:buSzPct val="100000"/>
              <a:buChar char="•"/>
            </a:pPr>
            <a:r>
              <a:rPr lang="en-US" sz="1500" dirty="0">
                <a:solidFill>
                  <a:schemeClr val="tx1"/>
                </a:solidFill>
              </a:rPr>
              <a:t>Handling level FL0–7 comes from real order quantities (units per line), not guesses.</a:t>
            </a:r>
            <a:endParaRPr lang="en-US" sz="1500" dirty="0"/>
          </a:p>
        </p:txBody>
      </p:sp>
      <p:sp>
        <p:nvSpPr>
          <p:cNvPr id="25" name="Slide Number Placeholder 0"/>
          <p:cNvSpPr>
            <a:spLocks noGrp="1"/>
          </p:cNvSpPr>
          <p:nvPr>
            <p:ph type="sldNum" sz="quarter" idx="4294967295"/>
          </p:nvPr>
        </p:nvSpPr>
        <p:spPr>
          <a:xfrm>
            <a:off x="1109441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411480"/>
            <a:ext cx="11094415" cy="731520"/>
          </a:xfrm>
          <a:prstGeom prst="rect">
            <a:avLst/>
          </a:prstGeom>
          <a:noFill/>
          <a:ln/>
        </p:spPr>
        <p:txBody>
          <a:bodyPr wrap="square" lIns="0" tIns="0" rIns="0" bIns="0" rtlCol="0" anchor="ctr"/>
          <a:lstStyle/>
          <a:p>
            <a:pPr algn="l" indent="0" marL="0">
              <a:buNone/>
            </a:pPr>
            <a:r>
              <a:rPr lang="en-US" sz="2800" b="1" dirty="0">
                <a:solidFill>
                  <a:schemeClr val="tx1"/>
                </a:solidFill>
              </a:rPr>
              <a:t>Three modules, one per requirement</a:t>
            </a:r>
            <a:endParaRPr lang="en-US" sz="2800" dirty="0"/>
          </a:p>
        </p:txBody>
      </p:sp>
      <p:pic>
        <p:nvPicPr>
          <p:cNvPr id="3" name="Screenshot game" descr="/private/tmp/claude-501/-Users-meghagautam-Desktop-NexAI/7e06456b-d112-4e56-b42b-9598c9c036e7/scratchpad/deck/shots/game.png">    </p:cNvPr>
          <p:cNvPicPr>
            <a:picLocks noChangeAspect="1"/>
          </p:cNvPicPr>
          <p:nvPr/>
        </p:nvPicPr>
        <p:blipFill>
          <a:blip r:embed="rId1"/>
          <a:stretch>
            <a:fillRect/>
          </a:stretch>
        </p:blipFill>
        <p:spPr>
          <a:xfrm>
            <a:off x="548640" y="1463040"/>
            <a:ext cx="6949440" cy="3909060"/>
          </a:xfrm>
          <a:prstGeom prst="rect">
            <a:avLst/>
          </a:prstGeom>
          <a:effectLst>
            <a:outerShdw sx="100000" sy="100000" kx="0" ky="0" algn="bl" rotWithShape="0" blurRad="101600" dist="25400" dir="5400000">
              <a:srgbClr val="1D2433">
                <a:alpha val="18000"/>
              </a:srgbClr>
            </a:outerShdw>
          </a:effectLst>
        </p:spPr>
      </p:pic>
      <p:sp>
        <p:nvSpPr>
          <p:cNvPr id="4" name="Badge"/>
          <p:cNvSpPr/>
          <p:nvPr/>
        </p:nvSpPr>
        <p:spPr>
          <a:xfrm>
            <a:off x="7818120" y="1508760"/>
            <a:ext cx="502920" cy="502920"/>
          </a:xfrm>
          <a:prstGeom prst="ellipse">
            <a:avLst/>
          </a:prstGeom>
          <a:solidFill>
            <a:schemeClr val="accent1"/>
          </a:solidFill>
          <a:ln w="12700">
            <a:solidFill>
              <a:schemeClr val="accent1"/>
            </a:solidFill>
            <a:prstDash val="solid"/>
          </a:ln>
        </p:spPr>
      </p:sp>
      <p:pic>
        <p:nvPicPr>
          <p:cNvPr id="5" name="Badge icon" descr="preencoded.png">    </p:cNvPr>
          <p:cNvPicPr>
            <a:picLocks noChangeAspect="1"/>
          </p:cNvPicPr>
          <p:nvPr/>
        </p:nvPicPr>
        <p:blipFill>
          <a:blip r:embed="rId2"/>
          <a:stretch>
            <a:fillRect/>
          </a:stretch>
        </p:blipFill>
        <p:spPr>
          <a:xfrm>
            <a:off x="7938821" y="1629461"/>
            <a:ext cx="261518" cy="261518"/>
          </a:xfrm>
          <a:prstGeom prst="rect">
            <a:avLst/>
          </a:prstGeom>
        </p:spPr>
      </p:pic>
      <p:sp>
        <p:nvSpPr>
          <p:cNvPr id="6" name="Text 2"/>
          <p:cNvSpPr txBox="1"/>
          <p:nvPr/>
        </p:nvSpPr>
        <p:spPr>
          <a:xfrm>
            <a:off x="8458200" y="1463040"/>
            <a:ext cx="3200400" cy="365760"/>
          </a:xfrm>
          <a:prstGeom prst="rect">
            <a:avLst/>
          </a:prstGeom>
          <a:noFill/>
          <a:ln/>
        </p:spPr>
        <p:txBody>
          <a:bodyPr wrap="square" lIns="0" tIns="0" rIns="0" bIns="0" rtlCol="0" anchor="ctr"/>
          <a:lstStyle/>
          <a:p>
            <a:pPr indent="0" marL="0">
              <a:buNone/>
            </a:pPr>
            <a:r>
              <a:rPr lang="en-US" sz="1800" b="1" dirty="0">
                <a:solidFill>
                  <a:schemeClr val="tx1"/>
                </a:solidFill>
              </a:rPr>
              <a:t>1 · Order data</a:t>
            </a:r>
            <a:endParaRPr lang="en-US" sz="1800" dirty="0"/>
          </a:p>
        </p:txBody>
      </p:sp>
      <p:sp>
        <p:nvSpPr>
          <p:cNvPr id="7" name="Text 3"/>
          <p:cNvSpPr txBox="1"/>
          <p:nvPr/>
        </p:nvSpPr>
        <p:spPr>
          <a:xfrm>
            <a:off x="8458200" y="1856232"/>
            <a:ext cx="3200400" cy="914400"/>
          </a:xfrm>
          <a:prstGeom prst="rect">
            <a:avLst/>
          </a:prstGeom>
          <a:noFill/>
          <a:ln/>
        </p:spPr>
        <p:txBody>
          <a:bodyPr wrap="square" lIns="0" tIns="0" rIns="0" bIns="0" rtlCol="0" anchor="t"/>
          <a:lstStyle/>
          <a:p>
            <a:pPr indent="0" marL="0">
              <a:buNone/>
            </a:pPr>
            <a:r>
              <a:rPr lang="en-US" sz="1400" dirty="0">
                <a:solidFill>
                  <a:schemeClr val="tx2"/>
                </a:solidFill>
              </a:rPr>
              <a:t>One month of order lines turned into JSON: products, pick counts, classes, handling levels.</a:t>
            </a:r>
            <a:endParaRPr lang="en-US" sz="1400" dirty="0"/>
          </a:p>
        </p:txBody>
      </p:sp>
      <p:sp>
        <p:nvSpPr>
          <p:cNvPr id="8" name="Badge"/>
          <p:cNvSpPr/>
          <p:nvPr/>
        </p:nvSpPr>
        <p:spPr>
          <a:xfrm>
            <a:off x="7818120" y="2926080"/>
            <a:ext cx="502920" cy="502920"/>
          </a:xfrm>
          <a:prstGeom prst="ellipse">
            <a:avLst/>
          </a:prstGeom>
          <a:solidFill>
            <a:schemeClr val="accent1"/>
          </a:solidFill>
          <a:ln w="12700">
            <a:solidFill>
              <a:schemeClr val="accent1"/>
            </a:solidFill>
            <a:prstDash val="solid"/>
          </a:ln>
        </p:spPr>
      </p:sp>
      <p:pic>
        <p:nvPicPr>
          <p:cNvPr id="9" name="Badge icon" descr="preencoded.png">    </p:cNvPr>
          <p:cNvPicPr>
            <a:picLocks noChangeAspect="1"/>
          </p:cNvPicPr>
          <p:nvPr/>
        </p:nvPicPr>
        <p:blipFill>
          <a:blip r:embed="rId3"/>
          <a:stretch>
            <a:fillRect/>
          </a:stretch>
        </p:blipFill>
        <p:spPr>
          <a:xfrm>
            <a:off x="7938821" y="3046781"/>
            <a:ext cx="261518" cy="261518"/>
          </a:xfrm>
          <a:prstGeom prst="rect">
            <a:avLst/>
          </a:prstGeom>
        </p:spPr>
      </p:pic>
      <p:sp>
        <p:nvSpPr>
          <p:cNvPr id="10" name="Text 5"/>
          <p:cNvSpPr txBox="1"/>
          <p:nvPr/>
        </p:nvSpPr>
        <p:spPr>
          <a:xfrm>
            <a:off x="8458200" y="2880360"/>
            <a:ext cx="3200400" cy="365760"/>
          </a:xfrm>
          <a:prstGeom prst="rect">
            <a:avLst/>
          </a:prstGeom>
          <a:noFill/>
          <a:ln/>
        </p:spPr>
        <p:txBody>
          <a:bodyPr wrap="square" lIns="0" tIns="0" rIns="0" bIns="0" rtlCol="0" anchor="ctr"/>
          <a:lstStyle/>
          <a:p>
            <a:pPr indent="0" marL="0">
              <a:buNone/>
            </a:pPr>
            <a:r>
              <a:rPr lang="en-US" sz="1800" b="1" dirty="0">
                <a:solidFill>
                  <a:schemeClr val="tx1"/>
                </a:solidFill>
              </a:rPr>
              <a:t>2 · Warehouse replay</a:t>
            </a:r>
            <a:endParaRPr lang="en-US" sz="1800" dirty="0"/>
          </a:p>
        </p:txBody>
      </p:sp>
      <p:sp>
        <p:nvSpPr>
          <p:cNvPr id="11" name="Text 6"/>
          <p:cNvSpPr txBox="1"/>
          <p:nvPr/>
        </p:nvSpPr>
        <p:spPr>
          <a:xfrm>
            <a:off x="8458200" y="3273552"/>
            <a:ext cx="3200400" cy="914400"/>
          </a:xfrm>
          <a:prstGeom prst="rect">
            <a:avLst/>
          </a:prstGeom>
          <a:noFill/>
          <a:ln/>
        </p:spPr>
        <p:txBody>
          <a:bodyPr wrap="square" lIns="0" tIns="0" rIns="0" bIns="0" rtlCol="0" anchor="t"/>
          <a:lstStyle/>
          <a:p>
            <a:pPr indent="0" marL="0">
              <a:buNone/>
            </a:pPr>
            <a:r>
              <a:rPr lang="en-US" sz="1400" dirty="0">
                <a:solidFill>
                  <a:schemeClr val="tx2"/>
                </a:solidFill>
              </a:rPr>
              <a:t>3D floor with photo cards; the picker walks the aisles with live distance and time. Batch picking and a peak shift.</a:t>
            </a:r>
            <a:endParaRPr lang="en-US" sz="1400" dirty="0"/>
          </a:p>
        </p:txBody>
      </p:sp>
      <p:sp>
        <p:nvSpPr>
          <p:cNvPr id="12" name="Badge"/>
          <p:cNvSpPr/>
          <p:nvPr/>
        </p:nvSpPr>
        <p:spPr>
          <a:xfrm>
            <a:off x="7818120" y="4343400"/>
            <a:ext cx="502920" cy="502920"/>
          </a:xfrm>
          <a:prstGeom prst="ellipse">
            <a:avLst/>
          </a:prstGeom>
          <a:solidFill>
            <a:schemeClr val="accent1"/>
          </a:solidFill>
          <a:ln w="12700">
            <a:solidFill>
              <a:schemeClr val="accent1"/>
            </a:solidFill>
            <a:prstDash val="solid"/>
          </a:ln>
        </p:spPr>
      </p:sp>
      <p:pic>
        <p:nvPicPr>
          <p:cNvPr id="13" name="Badge icon" descr="preencoded.png">    </p:cNvPr>
          <p:cNvPicPr>
            <a:picLocks noChangeAspect="1"/>
          </p:cNvPicPr>
          <p:nvPr/>
        </p:nvPicPr>
        <p:blipFill>
          <a:blip r:embed="rId4"/>
          <a:stretch>
            <a:fillRect/>
          </a:stretch>
        </p:blipFill>
        <p:spPr>
          <a:xfrm>
            <a:off x="7938821" y="4464101"/>
            <a:ext cx="261518" cy="261518"/>
          </a:xfrm>
          <a:prstGeom prst="rect">
            <a:avLst/>
          </a:prstGeom>
        </p:spPr>
      </p:pic>
      <p:sp>
        <p:nvSpPr>
          <p:cNvPr id="14" name="Text 8"/>
          <p:cNvSpPr txBox="1"/>
          <p:nvPr/>
        </p:nvSpPr>
        <p:spPr>
          <a:xfrm>
            <a:off x="8458200" y="4297680"/>
            <a:ext cx="3200400" cy="365760"/>
          </a:xfrm>
          <a:prstGeom prst="rect">
            <a:avLst/>
          </a:prstGeom>
          <a:noFill/>
          <a:ln/>
        </p:spPr>
        <p:txBody>
          <a:bodyPr wrap="square" lIns="0" tIns="0" rIns="0" bIns="0" rtlCol="0" anchor="ctr"/>
          <a:lstStyle/>
          <a:p>
            <a:pPr indent="0" marL="0">
              <a:buNone/>
            </a:pPr>
            <a:r>
              <a:rPr lang="en-US" sz="1800" b="1" dirty="0">
                <a:solidFill>
                  <a:schemeClr val="tx1"/>
                </a:solidFill>
              </a:rPr>
              <a:t>3 · Slotting challenge</a:t>
            </a:r>
            <a:endParaRPr lang="en-US" sz="1800" dirty="0"/>
          </a:p>
        </p:txBody>
      </p:sp>
      <p:sp>
        <p:nvSpPr>
          <p:cNvPr id="15" name="Text 9"/>
          <p:cNvSpPr txBox="1"/>
          <p:nvPr/>
        </p:nvSpPr>
        <p:spPr>
          <a:xfrm>
            <a:off x="8458200" y="4690872"/>
            <a:ext cx="3200400" cy="914400"/>
          </a:xfrm>
          <a:prstGeom prst="rect">
            <a:avLst/>
          </a:prstGeom>
          <a:noFill/>
          <a:ln/>
        </p:spPr>
        <p:txBody>
          <a:bodyPr wrap="square" lIns="0" tIns="0" rIns="0" bIns="0" rtlCol="0" anchor="t"/>
          <a:lstStyle/>
          <a:p>
            <a:pPr indent="0" marL="0">
              <a:buNone/>
            </a:pPr>
            <a:r>
              <a:rPr lang="en-US" sz="1400" dirty="0">
                <a:solidFill>
                  <a:schemeClr val="tx2"/>
                </a:solidFill>
              </a:rPr>
              <a:t>Swap products in 10 moves, replay the same orders, beat the fast-movers-first baseline.</a:t>
            </a:r>
            <a:endParaRPr lang="en-US" sz="1400" dirty="0"/>
          </a:p>
        </p:txBody>
      </p:sp>
      <p:sp>
        <p:nvSpPr>
          <p:cNvPr id="25" name="Slide Number Placeholder 0"/>
          <p:cNvSpPr>
            <a:spLocks noGrp="1"/>
          </p:cNvSpPr>
          <p:nvPr>
            <p:ph type="sldNum" sz="quarter" idx="4294967295"/>
          </p:nvPr>
        </p:nvSpPr>
        <p:spPr>
          <a:xfrm>
            <a:off x="1109441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411480"/>
            <a:ext cx="11094415" cy="731520"/>
          </a:xfrm>
          <a:prstGeom prst="rect">
            <a:avLst/>
          </a:prstGeom>
          <a:noFill/>
          <a:ln/>
        </p:spPr>
        <p:txBody>
          <a:bodyPr wrap="square" lIns="0" tIns="0" rIns="0" bIns="0" rtlCol="0" anchor="ctr"/>
          <a:lstStyle/>
          <a:p>
            <a:pPr algn="l" indent="0" marL="0">
              <a:buNone/>
            </a:pPr>
            <a:r>
              <a:rPr lang="en-US" sz="2800" b="1" dirty="0">
                <a:solidFill>
                  <a:schemeClr val="tx1"/>
                </a:solidFill>
              </a:rPr>
              <a:t>The textbook rule barely helps; bought-together placement does</a:t>
            </a:r>
            <a:endParaRPr lang="en-US" sz="2800" dirty="0"/>
          </a:p>
        </p:txBody>
      </p:sp>
      <p:graphicFrame>
        <p:nvGraphicFramePr>
          <p:cNvPr id="3" name="Chart 0" descr=""/>
          <p:cNvGraphicFramePr/>
          <p:nvPr/>
        </p:nvGraphicFramePr>
        <p:xfrm>
          <a:off x="548640" y="1417320"/>
          <a:ext cx="6766560" cy="4480560"/>
        </p:xfrm>
        <a:graphic xmlns:a="http://schemas.openxmlformats.org/drawingml/2006/main">
          <a:graphicData uri="http://schemas.openxmlformats.org/drawingml/2006/chart">
            <c:chart xmlns:c="http://schemas.openxmlformats.org/drawingml/2006/chart" r:id="rId1"/>
          </a:graphicData>
        </a:graphic>
      </p:graphicFrame>
      <p:sp>
        <p:nvSpPr>
          <p:cNvPr id="4" name="Text 1"/>
          <p:cNvSpPr txBox="1"/>
          <p:nvPr/>
        </p:nvSpPr>
        <p:spPr>
          <a:xfrm>
            <a:off x="7680960" y="1600200"/>
            <a:ext cx="3931920" cy="731520"/>
          </a:xfrm>
          <a:prstGeom prst="rect">
            <a:avLst/>
          </a:prstGeom>
          <a:noFill/>
          <a:ln/>
        </p:spPr>
        <p:txBody>
          <a:bodyPr wrap="square" lIns="0" tIns="0" rIns="0" bIns="0" rtlCol="0" anchor="ctr"/>
          <a:lstStyle/>
          <a:p>
            <a:pPr indent="0" marL="0">
              <a:buNone/>
            </a:pPr>
            <a:r>
              <a:rPr lang="en-US" sz="4800" b="1" dirty="0">
                <a:solidFill>
                  <a:schemeClr val="accent5"/>
                </a:solidFill>
                <a:latin typeface="Arial" pitchFamily="34" charset="0"/>
                <a:ea typeface="Arial" pitchFamily="34" charset="-122"/>
                <a:cs typeface="Arial" pitchFamily="34" charset="-120"/>
              </a:rPr>
              <a:t>−1.4%</a:t>
            </a:r>
            <a:endParaRPr lang="en-US" sz="4800" dirty="0"/>
          </a:p>
        </p:txBody>
      </p:sp>
      <p:sp>
        <p:nvSpPr>
          <p:cNvPr id="5" name="Text 2"/>
          <p:cNvSpPr txBox="1"/>
          <p:nvPr/>
        </p:nvSpPr>
        <p:spPr>
          <a:xfrm>
            <a:off x="7680960" y="2331720"/>
            <a:ext cx="3931920" cy="548640"/>
          </a:xfrm>
          <a:prstGeom prst="rect">
            <a:avLst/>
          </a:prstGeom>
          <a:noFill/>
          <a:ln/>
        </p:spPr>
        <p:txBody>
          <a:bodyPr wrap="square" lIns="0" tIns="0" rIns="0" bIns="0" rtlCol="0" anchor="ctr"/>
          <a:lstStyle/>
          <a:p>
            <a:pPr indent="0" marL="0">
              <a:buNone/>
            </a:pPr>
            <a:r>
              <a:rPr lang="en-US" sz="1500" dirty="0">
                <a:solidFill>
                  <a:schemeClr val="tx2"/>
                </a:solidFill>
              </a:rPr>
              <a:t>time for the textbook rule vs Original (−4.7% walking)</a:t>
            </a:r>
            <a:endParaRPr lang="en-US" sz="1500" dirty="0"/>
          </a:p>
        </p:txBody>
      </p:sp>
      <p:sp>
        <p:nvSpPr>
          <p:cNvPr id="6" name="Text 3"/>
          <p:cNvSpPr txBox="1"/>
          <p:nvPr/>
        </p:nvSpPr>
        <p:spPr>
          <a:xfrm>
            <a:off x="7680960" y="3063240"/>
            <a:ext cx="3931920" cy="731520"/>
          </a:xfrm>
          <a:prstGeom prst="rect">
            <a:avLst/>
          </a:prstGeom>
          <a:noFill/>
          <a:ln/>
        </p:spPr>
        <p:txBody>
          <a:bodyPr wrap="square" lIns="0" tIns="0" rIns="0" bIns="0" rtlCol="0" anchor="ctr"/>
          <a:lstStyle/>
          <a:p>
            <a:pPr indent="0" marL="0">
              <a:buNone/>
            </a:pPr>
            <a:r>
              <a:rPr lang="en-US" sz="4800" b="1" dirty="0">
                <a:solidFill>
                  <a:schemeClr val="accent2"/>
                </a:solidFill>
                <a:latin typeface="Arial" pitchFamily="34" charset="0"/>
                <a:ea typeface="Arial" pitchFamily="34" charset="-122"/>
                <a:cs typeface="Arial" pitchFamily="34" charset="-120"/>
              </a:rPr>
              <a:t>−6.3%</a:t>
            </a:r>
            <a:endParaRPr lang="en-US" sz="4800" dirty="0"/>
          </a:p>
        </p:txBody>
      </p:sp>
      <p:sp>
        <p:nvSpPr>
          <p:cNvPr id="7" name="Text 4"/>
          <p:cNvSpPr txBox="1"/>
          <p:nvPr/>
        </p:nvSpPr>
        <p:spPr>
          <a:xfrm>
            <a:off x="7680960" y="3794760"/>
            <a:ext cx="3931920" cy="548640"/>
          </a:xfrm>
          <a:prstGeom prst="rect">
            <a:avLst/>
          </a:prstGeom>
          <a:noFill/>
          <a:ln/>
        </p:spPr>
        <p:txBody>
          <a:bodyPr wrap="square" lIns="0" tIns="0" rIns="0" bIns="0" rtlCol="0" anchor="ctr"/>
          <a:lstStyle/>
          <a:p>
            <a:pPr indent="0" marL="0">
              <a:buNone/>
            </a:pPr>
            <a:r>
              <a:rPr lang="en-US" sz="1500" dirty="0">
                <a:solidFill>
                  <a:schemeClr val="tx2"/>
                </a:solidFill>
              </a:rPr>
              <a:t>time for AI Suggest vs Baseline (−8.0% walking)</a:t>
            </a:r>
            <a:endParaRPr lang="en-US" sz="1500" dirty="0"/>
          </a:p>
        </p:txBody>
      </p:sp>
      <p:sp>
        <p:nvSpPr>
          <p:cNvPr id="8" name="Text 5"/>
          <p:cNvSpPr txBox="1"/>
          <p:nvPr/>
        </p:nvSpPr>
        <p:spPr>
          <a:xfrm>
            <a:off x="7680960" y="4617720"/>
            <a:ext cx="3931920" cy="1188720"/>
          </a:xfrm>
          <a:prstGeom prst="rect">
            <a:avLst/>
          </a:prstGeom>
          <a:noFill/>
          <a:ln/>
        </p:spPr>
        <p:txBody>
          <a:bodyPr wrap="square" lIns="0" tIns="0" rIns="0" bIns="0" rtlCol="0" anchor="t"/>
          <a:lstStyle/>
          <a:p>
            <a:pPr indent="0" marL="0">
              <a:buNone/>
            </a:pPr>
            <a:r>
              <a:rPr lang="en-US" sz="1500" i="1" dirty="0">
                <a:solidFill>
                  <a:schemeClr val="tx1"/>
                </a:solidFill>
              </a:rPr>
              <a:t>Wholesale orders average 7 lines and cross the whole floor, and frequency alone ignores forklift access at aisle ends.</a:t>
            </a:r>
            <a:endParaRPr lang="en-US" sz="1500" dirty="0"/>
          </a:p>
        </p:txBody>
      </p:sp>
      <p:sp>
        <p:nvSpPr>
          <p:cNvPr id="9" name="Source"/>
          <p:cNvSpPr txBox="1"/>
          <p:nvPr/>
        </p:nvSpPr>
        <p:spPr>
          <a:xfrm>
            <a:off x="6217920" y="6446520"/>
            <a:ext cx="4785055" cy="274320"/>
          </a:xfrm>
          <a:prstGeom prst="rect">
            <a:avLst/>
          </a:prstGeom>
          <a:noFill/>
          <a:ln/>
        </p:spPr>
        <p:txBody>
          <a:bodyPr wrap="square" lIns="0" tIns="0" rIns="0" bIns="0" rtlCol="0" anchor="ctr"/>
          <a:lstStyle/>
          <a:p>
            <a:pPr algn="r" indent="0" marL="0">
              <a:buNone/>
            </a:pPr>
            <a:r>
              <a:rPr lang="en-US" sz="1000" dirty="0">
                <a:solidFill>
                  <a:schemeClr val="accent5"/>
                </a:solidFill>
              </a:rPr>
              <a:t>Test week 22–30 Nov 2011, 735 orders. AI: reproducible seed-1 run.</a:t>
            </a:r>
            <a:endParaRPr lang="en-US" sz="1000" dirty="0"/>
          </a:p>
        </p:txBody>
      </p:sp>
      <p:sp>
        <p:nvSpPr>
          <p:cNvPr id="25" name="Slide Number Placeholder 0"/>
          <p:cNvSpPr>
            <a:spLocks noGrp="1"/>
          </p:cNvSpPr>
          <p:nvPr>
            <p:ph type="sldNum" sz="quarter" idx="4294967295"/>
          </p:nvPr>
        </p:nvSpPr>
        <p:spPr>
          <a:xfrm>
            <a:off x="1109441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411480"/>
            <a:ext cx="11094415" cy="731520"/>
          </a:xfrm>
          <a:prstGeom prst="rect">
            <a:avLst/>
          </a:prstGeom>
          <a:noFill/>
          <a:ln/>
        </p:spPr>
        <p:txBody>
          <a:bodyPr wrap="square" lIns="0" tIns="0" rIns="0" bIns="0" rtlCol="0" anchor="ctr"/>
          <a:lstStyle/>
          <a:p>
            <a:pPr algn="l" indent="0" marL="0">
              <a:buNone/>
            </a:pPr>
            <a:r>
              <a:rPr lang="en-US" sz="2800" b="1" dirty="0">
                <a:solidFill>
                  <a:schemeClr val="tx1"/>
                </a:solidFill>
              </a:rPr>
              <a:t>AI Suggest: explained, and scored on a week it never saw</a:t>
            </a:r>
            <a:endParaRPr lang="en-US" sz="2800" dirty="0"/>
          </a:p>
        </p:txBody>
      </p:sp>
      <p:pic>
        <p:nvPicPr>
          <p:cNvPr id="3" name="Screenshot ai" descr="/private/tmp/claude-501/-Users-meghagautam-Desktop-NexAI/7e06456b-d112-4e56-b42b-9598c9c036e7/scratchpad/deck/shots/ai.png">    </p:cNvPr>
          <p:cNvPicPr>
            <a:picLocks noChangeAspect="1"/>
          </p:cNvPicPr>
          <p:nvPr/>
        </p:nvPicPr>
        <p:blipFill>
          <a:blip r:embed="rId1"/>
          <a:stretch>
            <a:fillRect/>
          </a:stretch>
        </p:blipFill>
        <p:spPr>
          <a:xfrm>
            <a:off x="548640" y="1463040"/>
            <a:ext cx="6949440" cy="3909060"/>
          </a:xfrm>
          <a:prstGeom prst="rect">
            <a:avLst/>
          </a:prstGeom>
          <a:effectLst>
            <a:outerShdw sx="100000" sy="100000" kx="0" ky="0" algn="bl" rotWithShape="0" blurRad="101600" dist="25400" dir="5400000">
              <a:srgbClr val="1D2433">
                <a:alpha val="18000"/>
              </a:srgbClr>
            </a:outerShdw>
          </a:effectLst>
        </p:spPr>
      </p:pic>
      <p:sp>
        <p:nvSpPr>
          <p:cNvPr id="4" name="Badge"/>
          <p:cNvSpPr/>
          <p:nvPr/>
        </p:nvSpPr>
        <p:spPr>
          <a:xfrm>
            <a:off x="7818120" y="1508760"/>
            <a:ext cx="502920" cy="502920"/>
          </a:xfrm>
          <a:prstGeom prst="ellipse">
            <a:avLst/>
          </a:prstGeom>
          <a:solidFill>
            <a:schemeClr val="accent1"/>
          </a:solidFill>
          <a:ln w="12700">
            <a:solidFill>
              <a:schemeClr val="accent1"/>
            </a:solidFill>
            <a:prstDash val="solid"/>
          </a:ln>
        </p:spPr>
      </p:sp>
      <p:pic>
        <p:nvPicPr>
          <p:cNvPr id="5" name="Badge icon" descr="preencoded.png">    </p:cNvPr>
          <p:cNvPicPr>
            <a:picLocks noChangeAspect="1"/>
          </p:cNvPicPr>
          <p:nvPr/>
        </p:nvPicPr>
        <p:blipFill>
          <a:blip r:embed="rId2"/>
          <a:stretch>
            <a:fillRect/>
          </a:stretch>
        </p:blipFill>
        <p:spPr>
          <a:xfrm>
            <a:off x="7938821" y="1629461"/>
            <a:ext cx="261518" cy="261518"/>
          </a:xfrm>
          <a:prstGeom prst="rect">
            <a:avLst/>
          </a:prstGeom>
        </p:spPr>
      </p:pic>
      <p:sp>
        <p:nvSpPr>
          <p:cNvPr id="6" name="Text 2"/>
          <p:cNvSpPr txBox="1"/>
          <p:nvPr/>
        </p:nvSpPr>
        <p:spPr>
          <a:xfrm>
            <a:off x="8458200" y="1463040"/>
            <a:ext cx="3200400" cy="365760"/>
          </a:xfrm>
          <a:prstGeom prst="rect">
            <a:avLst/>
          </a:prstGeom>
          <a:noFill/>
          <a:ln/>
        </p:spPr>
        <p:txBody>
          <a:bodyPr wrap="square" lIns="0" tIns="0" rIns="0" bIns="0" rtlCol="0" anchor="ctr"/>
          <a:lstStyle/>
          <a:p>
            <a:pPr indent="0" marL="0">
              <a:buNone/>
            </a:pPr>
            <a:r>
              <a:rPr lang="en-US" sz="1700" b="1" dirty="0">
                <a:solidFill>
                  <a:schemeClr val="tx1"/>
                </a:solidFill>
              </a:rPr>
              <a:t>45,000 swaps in the browser</a:t>
            </a:r>
            <a:endParaRPr lang="en-US" sz="1700" dirty="0"/>
          </a:p>
        </p:txBody>
      </p:sp>
      <p:sp>
        <p:nvSpPr>
          <p:cNvPr id="7" name="Text 3"/>
          <p:cNvSpPr txBox="1"/>
          <p:nvPr/>
        </p:nvSpPr>
        <p:spPr>
          <a:xfrm>
            <a:off x="8458200" y="1856232"/>
            <a:ext cx="3200400" cy="914400"/>
          </a:xfrm>
          <a:prstGeom prst="rect">
            <a:avLst/>
          </a:prstGeom>
          <a:noFill/>
          <a:ln/>
        </p:spPr>
        <p:txBody>
          <a:bodyPr wrap="square" lIns="0" tIns="0" rIns="0" bIns="0" rtlCol="0" anchor="t"/>
          <a:lstStyle/>
          <a:p>
            <a:pPr indent="0" marL="0">
              <a:buNone/>
            </a:pPr>
            <a:r>
              <a:rPr lang="en-US" sz="1400" dirty="0">
                <a:solidFill>
                  <a:schemeClr val="tx2"/>
                </a:solidFill>
              </a:rPr>
              <a:t>Simulated annealing in a Web Worker, so the 3D scene never freezes.</a:t>
            </a:r>
            <a:endParaRPr lang="en-US" sz="1400" dirty="0"/>
          </a:p>
        </p:txBody>
      </p:sp>
      <p:sp>
        <p:nvSpPr>
          <p:cNvPr id="8" name="Badge"/>
          <p:cNvSpPr/>
          <p:nvPr/>
        </p:nvSpPr>
        <p:spPr>
          <a:xfrm>
            <a:off x="7818120" y="2926080"/>
            <a:ext cx="502920" cy="502920"/>
          </a:xfrm>
          <a:prstGeom prst="ellipse">
            <a:avLst/>
          </a:prstGeom>
          <a:solidFill>
            <a:schemeClr val="accent1"/>
          </a:solidFill>
          <a:ln w="12700">
            <a:solidFill>
              <a:schemeClr val="accent1"/>
            </a:solidFill>
            <a:prstDash val="solid"/>
          </a:ln>
        </p:spPr>
      </p:sp>
      <p:pic>
        <p:nvPicPr>
          <p:cNvPr id="9" name="Badge icon" descr="preencoded.png">    </p:cNvPr>
          <p:cNvPicPr>
            <a:picLocks noChangeAspect="1"/>
          </p:cNvPicPr>
          <p:nvPr/>
        </p:nvPicPr>
        <p:blipFill>
          <a:blip r:embed="rId3"/>
          <a:stretch>
            <a:fillRect/>
          </a:stretch>
        </p:blipFill>
        <p:spPr>
          <a:xfrm>
            <a:off x="7938821" y="3046781"/>
            <a:ext cx="261518" cy="261518"/>
          </a:xfrm>
          <a:prstGeom prst="rect">
            <a:avLst/>
          </a:prstGeom>
        </p:spPr>
      </p:pic>
      <p:sp>
        <p:nvSpPr>
          <p:cNvPr id="10" name="Text 5"/>
          <p:cNvSpPr txBox="1"/>
          <p:nvPr/>
        </p:nvSpPr>
        <p:spPr>
          <a:xfrm>
            <a:off x="8458200" y="2880360"/>
            <a:ext cx="3200400" cy="365760"/>
          </a:xfrm>
          <a:prstGeom prst="rect">
            <a:avLst/>
          </a:prstGeom>
          <a:noFill/>
          <a:ln/>
        </p:spPr>
        <p:txBody>
          <a:bodyPr wrap="square" lIns="0" tIns="0" rIns="0" bIns="0" rtlCol="0" anchor="ctr"/>
          <a:lstStyle/>
          <a:p>
            <a:pPr indent="0" marL="0">
              <a:buNone/>
            </a:pPr>
            <a:r>
              <a:rPr lang="en-US" sz="1700" b="1" dirty="0">
                <a:solidFill>
                  <a:schemeClr val="tx1"/>
                </a:solidFill>
              </a:rPr>
              <a:t>Learns 1–21 Nov, scored 22–30 Nov</a:t>
            </a:r>
            <a:endParaRPr lang="en-US" sz="1700" dirty="0"/>
          </a:p>
        </p:txBody>
      </p:sp>
      <p:sp>
        <p:nvSpPr>
          <p:cNvPr id="11" name="Text 6"/>
          <p:cNvSpPr txBox="1"/>
          <p:nvPr/>
        </p:nvSpPr>
        <p:spPr>
          <a:xfrm>
            <a:off x="8458200" y="3273552"/>
            <a:ext cx="3200400" cy="914400"/>
          </a:xfrm>
          <a:prstGeom prst="rect">
            <a:avLst/>
          </a:prstGeom>
          <a:noFill/>
          <a:ln/>
        </p:spPr>
        <p:txBody>
          <a:bodyPr wrap="square" lIns="0" tIns="0" rIns="0" bIns="0" rtlCol="0" anchor="t"/>
          <a:lstStyle/>
          <a:p>
            <a:pPr indent="0" marL="0">
              <a:buNone/>
            </a:pPr>
            <a:r>
              <a:rPr lang="en-US" sz="1400" dirty="0">
                <a:solidFill>
                  <a:schemeClr val="tx2"/>
                </a:solidFill>
              </a:rPr>
              <a:t>The test week stays unseen, so the saving is not overfitted.</a:t>
            </a:r>
            <a:endParaRPr lang="en-US" sz="1400" dirty="0"/>
          </a:p>
        </p:txBody>
      </p:sp>
      <p:sp>
        <p:nvSpPr>
          <p:cNvPr id="12" name="Badge"/>
          <p:cNvSpPr/>
          <p:nvPr/>
        </p:nvSpPr>
        <p:spPr>
          <a:xfrm>
            <a:off x="7818120" y="4343400"/>
            <a:ext cx="502920" cy="502920"/>
          </a:xfrm>
          <a:prstGeom prst="ellipse">
            <a:avLst/>
          </a:prstGeom>
          <a:solidFill>
            <a:schemeClr val="accent1"/>
          </a:solidFill>
          <a:ln w="12700">
            <a:solidFill>
              <a:schemeClr val="accent1"/>
            </a:solidFill>
            <a:prstDash val="solid"/>
          </a:ln>
        </p:spPr>
      </p:sp>
      <p:pic>
        <p:nvPicPr>
          <p:cNvPr id="13" name="Badge icon" descr="preencoded.png">    </p:cNvPr>
          <p:cNvPicPr>
            <a:picLocks noChangeAspect="1"/>
          </p:cNvPicPr>
          <p:nvPr/>
        </p:nvPicPr>
        <p:blipFill>
          <a:blip r:embed="rId4"/>
          <a:stretch>
            <a:fillRect/>
          </a:stretch>
        </p:blipFill>
        <p:spPr>
          <a:xfrm>
            <a:off x="7938821" y="4464101"/>
            <a:ext cx="261518" cy="261518"/>
          </a:xfrm>
          <a:prstGeom prst="rect">
            <a:avLst/>
          </a:prstGeom>
        </p:spPr>
      </p:pic>
      <p:sp>
        <p:nvSpPr>
          <p:cNvPr id="14" name="Text 8"/>
          <p:cNvSpPr txBox="1"/>
          <p:nvPr/>
        </p:nvSpPr>
        <p:spPr>
          <a:xfrm>
            <a:off x="8458200" y="4297680"/>
            <a:ext cx="3200400" cy="365760"/>
          </a:xfrm>
          <a:prstGeom prst="rect">
            <a:avLst/>
          </a:prstGeom>
          <a:noFill/>
          <a:ln/>
        </p:spPr>
        <p:txBody>
          <a:bodyPr wrap="square" lIns="0" tIns="0" rIns="0" bIns="0" rtlCol="0" anchor="ctr"/>
          <a:lstStyle/>
          <a:p>
            <a:pPr indent="0" marL="0">
              <a:buNone/>
            </a:pPr>
            <a:r>
              <a:rPr lang="en-US" sz="1700" b="1" dirty="0">
                <a:solidFill>
                  <a:schemeClr val="tx1"/>
                </a:solidFill>
              </a:rPr>
              <a:t>Every move has a reason</a:t>
            </a:r>
            <a:endParaRPr lang="en-US" sz="1700" dirty="0"/>
          </a:p>
        </p:txBody>
      </p:sp>
      <p:sp>
        <p:nvSpPr>
          <p:cNvPr id="15" name="Text 9"/>
          <p:cNvSpPr txBox="1"/>
          <p:nvPr/>
        </p:nvSpPr>
        <p:spPr>
          <a:xfrm>
            <a:off x="8458200" y="4690872"/>
            <a:ext cx="3200400" cy="914400"/>
          </a:xfrm>
          <a:prstGeom prst="rect">
            <a:avLst/>
          </a:prstGeom>
          <a:noFill/>
          <a:ln/>
        </p:spPr>
        <p:txBody>
          <a:bodyPr wrap="square" lIns="0" tIns="0" rIns="0" bIns="0" rtlCol="0" anchor="t"/>
          <a:lstStyle/>
          <a:p>
            <a:pPr indent="0" marL="0">
              <a:buNone/>
            </a:pPr>
            <a:r>
              <a:rPr lang="en-US" sz="1400" dirty="0">
                <a:solidFill>
                  <a:schemeClr val="tx2"/>
                </a:solidFill>
              </a:rPr>
              <a:t>"Now 1.2 m from Alarm Clock Bakelike Red, was 25.2 m: bought together in 80 orders."</a:t>
            </a:r>
            <a:endParaRPr lang="en-US" sz="1400" dirty="0"/>
          </a:p>
        </p:txBody>
      </p:sp>
      <p:sp>
        <p:nvSpPr>
          <p:cNvPr id="25" name="Slide Number Placeholder 0"/>
          <p:cNvSpPr>
            <a:spLocks noGrp="1"/>
          </p:cNvSpPr>
          <p:nvPr>
            <p:ph type="sldNum" sz="quarter" idx="4294967295"/>
          </p:nvPr>
        </p:nvSpPr>
        <p:spPr>
          <a:xfrm>
            <a:off x="1109441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411480"/>
            <a:ext cx="11094415" cy="731520"/>
          </a:xfrm>
          <a:prstGeom prst="rect">
            <a:avLst/>
          </a:prstGeom>
          <a:noFill/>
          <a:ln/>
        </p:spPr>
        <p:txBody>
          <a:bodyPr wrap="square" lIns="0" tIns="0" rIns="0" bIns="0" rtlCol="0" anchor="ctr"/>
          <a:lstStyle/>
          <a:p>
            <a:pPr algn="l" indent="0" marL="0">
              <a:buNone/>
            </a:pPr>
            <a:r>
              <a:rPr lang="en-US" sz="2800" b="1" dirty="0">
                <a:solidFill>
                  <a:schemeClr val="tx1"/>
                </a:solidFill>
              </a:rPr>
              <a:t>It counts the cost of change, and pays for itself</a:t>
            </a:r>
            <a:endParaRPr lang="en-US" sz="2800" dirty="0"/>
          </a:p>
        </p:txBody>
      </p:sp>
      <p:sp>
        <p:nvSpPr>
          <p:cNvPr id="3" name="Card"/>
          <p:cNvSpPr/>
          <p:nvPr/>
        </p:nvSpPr>
        <p:spPr>
          <a:xfrm>
            <a:off x="548640" y="1508760"/>
            <a:ext cx="3520440" cy="2331720"/>
          </a:xfrm>
          <a:prstGeom prst="roundRect">
            <a:avLst>
              <a:gd name="adj" fmla="val 3137"/>
            </a:avLst>
          </a:prstGeom>
          <a:solidFill>
            <a:schemeClr val="bg2"/>
          </a:solidFill>
          <a:ln w="12700">
            <a:solidFill>
              <a:schemeClr val="bg2"/>
            </a:solidFill>
            <a:prstDash val="solid"/>
          </a:ln>
        </p:spPr>
      </p:sp>
      <p:sp>
        <p:nvSpPr>
          <p:cNvPr id="4" name="Badge"/>
          <p:cNvSpPr/>
          <p:nvPr/>
        </p:nvSpPr>
        <p:spPr>
          <a:xfrm>
            <a:off x="822960" y="1737360"/>
            <a:ext cx="548640" cy="548640"/>
          </a:xfrm>
          <a:prstGeom prst="ellipse">
            <a:avLst/>
          </a:prstGeom>
          <a:solidFill>
            <a:schemeClr val="accent1"/>
          </a:solidFill>
          <a:ln w="12700">
            <a:solidFill>
              <a:schemeClr val="accent1"/>
            </a:solidFill>
            <a:prstDash val="solid"/>
          </a:ln>
        </p:spPr>
      </p:sp>
      <p:pic>
        <p:nvPicPr>
          <p:cNvPr id="5" name="Badge icon" descr="preencoded.png">    </p:cNvPr>
          <p:cNvPicPr>
            <a:picLocks noChangeAspect="1"/>
          </p:cNvPicPr>
          <p:nvPr/>
        </p:nvPicPr>
        <p:blipFill>
          <a:blip r:embed="rId1"/>
          <a:stretch>
            <a:fillRect/>
          </a:stretch>
        </p:blipFill>
        <p:spPr>
          <a:xfrm>
            <a:off x="954634" y="1869034"/>
            <a:ext cx="285293" cy="285293"/>
          </a:xfrm>
          <a:prstGeom prst="rect">
            <a:avLst/>
          </a:prstGeom>
        </p:spPr>
      </p:pic>
      <p:sp>
        <p:nvSpPr>
          <p:cNvPr id="6" name="Text 3"/>
          <p:cNvSpPr txBox="1"/>
          <p:nvPr/>
        </p:nvSpPr>
        <p:spPr>
          <a:xfrm>
            <a:off x="822960" y="2423160"/>
            <a:ext cx="3017520" cy="731520"/>
          </a:xfrm>
          <a:prstGeom prst="rect">
            <a:avLst/>
          </a:prstGeom>
          <a:noFill/>
          <a:ln/>
        </p:spPr>
        <p:txBody>
          <a:bodyPr wrap="square" lIns="0" tIns="0" rIns="0" bIns="0" rtlCol="0" anchor="ctr"/>
          <a:lstStyle/>
          <a:p>
            <a:pPr indent="0" marL="0">
              <a:buNone/>
            </a:pPr>
            <a:r>
              <a:rPr lang="en-US" sz="4000" b="1" dirty="0">
                <a:solidFill>
                  <a:schemeClr val="tx1"/>
                </a:solidFill>
                <a:latin typeface="Arial" pitchFamily="34" charset="0"/>
                <a:ea typeface="Arial" pitchFamily="34" charset="-122"/>
                <a:cs typeface="Arial" pitchFamily="34" charset="-120"/>
              </a:rPr>
              <a:t>~24 min</a:t>
            </a:r>
            <a:endParaRPr lang="en-US" sz="4000" dirty="0"/>
          </a:p>
        </p:txBody>
      </p:sp>
      <p:sp>
        <p:nvSpPr>
          <p:cNvPr id="7" name="Text 4"/>
          <p:cNvSpPr txBox="1"/>
          <p:nvPr/>
        </p:nvSpPr>
        <p:spPr>
          <a:xfrm>
            <a:off x="822960" y="3154680"/>
            <a:ext cx="3017520" cy="548640"/>
          </a:xfrm>
          <a:prstGeom prst="rect">
            <a:avLst/>
          </a:prstGeom>
          <a:noFill/>
          <a:ln/>
        </p:spPr>
        <p:txBody>
          <a:bodyPr wrap="square" lIns="0" tIns="0" rIns="0" bIns="0" rtlCol="0" anchor="ctr"/>
          <a:lstStyle/>
          <a:p>
            <a:pPr indent="0" marL="0">
              <a:buNone/>
            </a:pPr>
            <a:r>
              <a:rPr lang="en-US" sz="1500" dirty="0">
                <a:solidFill>
                  <a:schemeClr val="tx2"/>
                </a:solidFill>
              </a:rPr>
              <a:t>picking time saved a day</a:t>
            </a:r>
            <a:endParaRPr lang="en-US" sz="1500" dirty="0"/>
          </a:p>
        </p:txBody>
      </p:sp>
      <p:sp>
        <p:nvSpPr>
          <p:cNvPr id="8" name="Card"/>
          <p:cNvSpPr/>
          <p:nvPr/>
        </p:nvSpPr>
        <p:spPr>
          <a:xfrm>
            <a:off x="4297680" y="1508760"/>
            <a:ext cx="3520440" cy="2331720"/>
          </a:xfrm>
          <a:prstGeom prst="roundRect">
            <a:avLst>
              <a:gd name="adj" fmla="val 3137"/>
            </a:avLst>
          </a:prstGeom>
          <a:solidFill>
            <a:schemeClr val="bg2"/>
          </a:solidFill>
          <a:ln w="12700">
            <a:solidFill>
              <a:schemeClr val="bg2"/>
            </a:solidFill>
            <a:prstDash val="solid"/>
          </a:ln>
        </p:spPr>
      </p:sp>
      <p:sp>
        <p:nvSpPr>
          <p:cNvPr id="9" name="Badge"/>
          <p:cNvSpPr/>
          <p:nvPr/>
        </p:nvSpPr>
        <p:spPr>
          <a:xfrm>
            <a:off x="4572000" y="1737360"/>
            <a:ext cx="548640" cy="548640"/>
          </a:xfrm>
          <a:prstGeom prst="ellipse">
            <a:avLst/>
          </a:prstGeom>
          <a:solidFill>
            <a:schemeClr val="accent1"/>
          </a:solidFill>
          <a:ln w="12700">
            <a:solidFill>
              <a:schemeClr val="accent1"/>
            </a:solidFill>
            <a:prstDash val="solid"/>
          </a:ln>
        </p:spPr>
      </p:sp>
      <p:pic>
        <p:nvPicPr>
          <p:cNvPr id="10" name="Badge icon" descr="preencoded.png">    </p:cNvPr>
          <p:cNvPicPr>
            <a:picLocks noChangeAspect="1"/>
          </p:cNvPicPr>
          <p:nvPr/>
        </p:nvPicPr>
        <p:blipFill>
          <a:blip r:embed="rId2"/>
          <a:stretch>
            <a:fillRect/>
          </a:stretch>
        </p:blipFill>
        <p:spPr>
          <a:xfrm>
            <a:off x="4703674" y="1869034"/>
            <a:ext cx="285293" cy="285293"/>
          </a:xfrm>
          <a:prstGeom prst="rect">
            <a:avLst/>
          </a:prstGeom>
        </p:spPr>
      </p:pic>
      <p:sp>
        <p:nvSpPr>
          <p:cNvPr id="11" name="Text 7"/>
          <p:cNvSpPr txBox="1"/>
          <p:nvPr/>
        </p:nvSpPr>
        <p:spPr>
          <a:xfrm>
            <a:off x="4572000" y="2423160"/>
            <a:ext cx="3017520" cy="731520"/>
          </a:xfrm>
          <a:prstGeom prst="rect">
            <a:avLst/>
          </a:prstGeom>
          <a:noFill/>
          <a:ln/>
        </p:spPr>
        <p:txBody>
          <a:bodyPr wrap="square" lIns="0" tIns="0" rIns="0" bIns="0" rtlCol="0" anchor="ctr"/>
          <a:lstStyle/>
          <a:p>
            <a:pPr indent="0" marL="0">
              <a:buNone/>
            </a:pPr>
            <a:r>
              <a:rPr lang="en-US" sz="4000" b="1" dirty="0">
                <a:solidFill>
                  <a:schemeClr val="tx1"/>
                </a:solidFill>
                <a:latin typeface="Arial" pitchFamily="34" charset="0"/>
                <a:ea typeface="Arial" pitchFamily="34" charset="-122"/>
                <a:cs typeface="Arial" pitchFamily="34" charset="-120"/>
              </a:rPr>
              <a:t>~£1.5k</a:t>
            </a:r>
            <a:endParaRPr lang="en-US" sz="4000" dirty="0"/>
          </a:p>
        </p:txBody>
      </p:sp>
      <p:sp>
        <p:nvSpPr>
          <p:cNvPr id="12" name="Text 8"/>
          <p:cNvSpPr txBox="1"/>
          <p:nvPr/>
        </p:nvSpPr>
        <p:spPr>
          <a:xfrm>
            <a:off x="4572000" y="3154680"/>
            <a:ext cx="3017520" cy="548640"/>
          </a:xfrm>
          <a:prstGeom prst="rect">
            <a:avLst/>
          </a:prstGeom>
          <a:noFill/>
          <a:ln/>
        </p:spPr>
        <p:txBody>
          <a:bodyPr wrap="square" lIns="0" tIns="0" rIns="0" bIns="0" rtlCol="0" anchor="ctr"/>
          <a:lstStyle/>
          <a:p>
            <a:pPr indent="0" marL="0">
              <a:buNone/>
            </a:pPr>
            <a:r>
              <a:rPr lang="en-US" sz="1500" dirty="0">
                <a:solidFill>
                  <a:schemeClr val="tx2"/>
                </a:solidFill>
              </a:rPr>
              <a:t>a year for this 100-product zone</a:t>
            </a:r>
            <a:endParaRPr lang="en-US" sz="1500" dirty="0"/>
          </a:p>
        </p:txBody>
      </p:sp>
      <p:sp>
        <p:nvSpPr>
          <p:cNvPr id="13" name="Card"/>
          <p:cNvSpPr/>
          <p:nvPr/>
        </p:nvSpPr>
        <p:spPr>
          <a:xfrm>
            <a:off x="8046720" y="1508760"/>
            <a:ext cx="3520440" cy="2331720"/>
          </a:xfrm>
          <a:prstGeom prst="roundRect">
            <a:avLst>
              <a:gd name="adj" fmla="val 3137"/>
            </a:avLst>
          </a:prstGeom>
          <a:solidFill>
            <a:schemeClr val="bg2"/>
          </a:solidFill>
          <a:ln w="12700">
            <a:solidFill>
              <a:schemeClr val="bg2"/>
            </a:solidFill>
            <a:prstDash val="solid"/>
          </a:ln>
        </p:spPr>
      </p:sp>
      <p:sp>
        <p:nvSpPr>
          <p:cNvPr id="14" name="Badge"/>
          <p:cNvSpPr/>
          <p:nvPr/>
        </p:nvSpPr>
        <p:spPr>
          <a:xfrm>
            <a:off x="8321040" y="1737360"/>
            <a:ext cx="548640" cy="548640"/>
          </a:xfrm>
          <a:prstGeom prst="ellipse">
            <a:avLst/>
          </a:prstGeom>
          <a:solidFill>
            <a:schemeClr val="accent1"/>
          </a:solidFill>
          <a:ln w="12700">
            <a:solidFill>
              <a:schemeClr val="accent1"/>
            </a:solidFill>
            <a:prstDash val="solid"/>
          </a:ln>
        </p:spPr>
      </p:sp>
      <p:pic>
        <p:nvPicPr>
          <p:cNvPr id="15" name="Badge icon" descr="preencoded.png">    </p:cNvPr>
          <p:cNvPicPr>
            <a:picLocks noChangeAspect="1"/>
          </p:cNvPicPr>
          <p:nvPr/>
        </p:nvPicPr>
        <p:blipFill>
          <a:blip r:embed="rId3"/>
          <a:stretch>
            <a:fillRect/>
          </a:stretch>
        </p:blipFill>
        <p:spPr>
          <a:xfrm>
            <a:off x="8452714" y="1869034"/>
            <a:ext cx="285293" cy="285293"/>
          </a:xfrm>
          <a:prstGeom prst="rect">
            <a:avLst/>
          </a:prstGeom>
        </p:spPr>
      </p:pic>
      <p:sp>
        <p:nvSpPr>
          <p:cNvPr id="16" name="Text 11"/>
          <p:cNvSpPr txBox="1"/>
          <p:nvPr/>
        </p:nvSpPr>
        <p:spPr>
          <a:xfrm>
            <a:off x="8321040" y="2423160"/>
            <a:ext cx="3017520" cy="731520"/>
          </a:xfrm>
          <a:prstGeom prst="rect">
            <a:avLst/>
          </a:prstGeom>
          <a:noFill/>
          <a:ln/>
        </p:spPr>
        <p:txBody>
          <a:bodyPr wrap="square" lIns="0" tIns="0" rIns="0" bIns="0" rtlCol="0" anchor="ctr"/>
          <a:lstStyle/>
          <a:p>
            <a:pPr indent="0" marL="0">
              <a:buNone/>
            </a:pPr>
            <a:r>
              <a:rPr lang="en-US" sz="4000" b="1" dirty="0">
                <a:solidFill>
                  <a:schemeClr val="tx1"/>
                </a:solidFill>
                <a:latin typeface="Arial" pitchFamily="34" charset="0"/>
                <a:ea typeface="Arial" pitchFamily="34" charset="-122"/>
                <a:cs typeface="Arial" pitchFamily="34" charset="-120"/>
              </a:rPr>
              <a:t>57</a:t>
            </a:r>
            <a:endParaRPr lang="en-US" sz="4000" dirty="0"/>
          </a:p>
        </p:txBody>
      </p:sp>
      <p:sp>
        <p:nvSpPr>
          <p:cNvPr id="17" name="Text 12"/>
          <p:cNvSpPr txBox="1"/>
          <p:nvPr/>
        </p:nvSpPr>
        <p:spPr>
          <a:xfrm>
            <a:off x="8321040" y="3154680"/>
            <a:ext cx="3017520" cy="548640"/>
          </a:xfrm>
          <a:prstGeom prst="rect">
            <a:avLst/>
          </a:prstGeom>
          <a:noFill/>
          <a:ln/>
        </p:spPr>
        <p:txBody>
          <a:bodyPr wrap="square" lIns="0" tIns="0" rIns="0" bIns="0" rtlCol="0" anchor="ctr"/>
          <a:lstStyle/>
          <a:p>
            <a:pPr indent="0" marL="0">
              <a:buNone/>
            </a:pPr>
            <a:r>
              <a:rPr lang="en-US" sz="1500" dirty="0">
                <a:solidFill>
                  <a:schemeClr val="tx2"/>
                </a:solidFill>
              </a:rPr>
              <a:t>products to re-slot (Balanced plan)</a:t>
            </a:r>
            <a:endParaRPr lang="en-US" sz="1500" dirty="0"/>
          </a:p>
        </p:txBody>
      </p:sp>
      <p:sp>
        <p:nvSpPr>
          <p:cNvPr id="18" name="Text 13"/>
          <p:cNvSpPr txBox="1"/>
          <p:nvPr/>
        </p:nvSpPr>
        <p:spPr>
          <a:xfrm>
            <a:off x="548640" y="4160520"/>
            <a:ext cx="5486400" cy="411480"/>
          </a:xfrm>
          <a:prstGeom prst="rect">
            <a:avLst/>
          </a:prstGeom>
          <a:noFill/>
          <a:ln/>
        </p:spPr>
        <p:txBody>
          <a:bodyPr wrap="square" lIns="0" tIns="0" rIns="0" bIns="0" rtlCol="0" anchor="ctr"/>
          <a:lstStyle/>
          <a:p>
            <a:pPr indent="0" marL="0">
              <a:buNone/>
            </a:pPr>
            <a:r>
              <a:rPr lang="en-US" sz="1800" b="1" dirty="0">
                <a:solidFill>
                  <a:schemeClr val="tx1"/>
                </a:solidFill>
              </a:rPr>
              <a:t>Three plans trade saving against effort</a:t>
            </a:r>
            <a:endParaRPr lang="en-US" sz="18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548640" y="4617720"/>
          <a:ext cx="6949440" cy="914400"/>
        </p:xfrm>
        <a:graphic>
          <a:graphicData uri="http://schemas.openxmlformats.org/drawingml/2006/table">
            <a:tbl>
              <a:tblPr/>
              <a:tblGrid>
                <a:gridCol w="2377440"/>
                <a:gridCol w="2560320"/>
                <a:gridCol w="2011680"/>
              </a:tblGrid>
              <a:tr h="310896">
                <a:tc>
                  <a:txBody>
                    <a:bodyPr/>
                    <a:lstStyle/>
                    <a:p>
                      <a:pPr indent="0" marL="0">
                        <a:buNone/>
                      </a:pPr>
                      <a:r>
                        <a:rPr lang="en-US" sz="1400" b="1" dirty="0">
                          <a:solidFill>
                            <a:schemeClr val="bg1"/>
                          </a:solidFill>
                        </a:rPr>
                        <a:t>Plan</a:t>
                      </a:r>
                      <a:endParaRPr lang="en-US" sz="1400" dirty="0"/>
                    </a:p>
                  </a:txBody>
                  <a:tcPr marL="54864" marR="54864" marT="54864" marB="54864">
                    <a:lnL w="6350" cap="flat" cmpd="sng" algn="ctr">
                      <a:solidFill>
                        <a:srgbClr val="D7DBE2"/>
                      </a:solidFill>
                      <a:prstDash val="solid"/>
                      <a:round/>
                      <a:headEnd type="none" w="med" len="med"/>
                      <a:tailEnd type="none" w="med" len="med"/>
                    </a:lnL>
                    <a:lnR w="6350" cap="flat" cmpd="sng" algn="ctr">
                      <a:solidFill>
                        <a:srgbClr val="D7DBE2"/>
                      </a:solidFill>
                      <a:prstDash val="solid"/>
                      <a:round/>
                      <a:headEnd type="none" w="med" len="med"/>
                      <a:tailEnd type="none" w="med" len="med"/>
                    </a:lnR>
                    <a:lnT w="6350" cap="flat" cmpd="sng" algn="ctr">
                      <a:solidFill>
                        <a:srgbClr val="D7DBE2"/>
                      </a:solidFill>
                      <a:prstDash val="solid"/>
                      <a:round/>
                      <a:headEnd type="none" w="med" len="med"/>
                      <a:tailEnd type="none" w="med" len="med"/>
                    </a:lnT>
                    <a:lnB w="6350" cap="flat" cmpd="sng" algn="ctr">
                      <a:solidFill>
                        <a:srgbClr val="D7DBE2"/>
                      </a:solidFill>
                      <a:prstDash val="solid"/>
                      <a:round/>
                      <a:headEnd type="none" w="med" len="med"/>
                      <a:tailEnd type="none" w="med" len="med"/>
                    </a:lnB>
                    <a:solidFill>
                      <a:schemeClr val="tx1"/>
                    </a:solidFill>
                  </a:tcPr>
                </a:tc>
                <a:tc>
                  <a:txBody>
                    <a:bodyPr/>
                    <a:lstStyle/>
                    <a:p>
                      <a:pPr indent="0" marL="0">
                        <a:buNone/>
                      </a:pPr>
                      <a:r>
                        <a:rPr lang="en-US" sz="1400" b="1" dirty="0">
                          <a:solidFill>
                            <a:schemeClr val="bg1"/>
                          </a:solidFill>
                        </a:rPr>
                        <a:t>Time saved vs Baseline</a:t>
                      </a:r>
                      <a:endParaRPr lang="en-US" sz="1400" dirty="0"/>
                    </a:p>
                  </a:txBody>
                  <a:tcPr marL="54864" marR="54864" marT="54864" marB="54864">
                    <a:lnL w="6350" cap="flat" cmpd="sng" algn="ctr">
                      <a:solidFill>
                        <a:srgbClr val="D7DBE2"/>
                      </a:solidFill>
                      <a:prstDash val="solid"/>
                      <a:round/>
                      <a:headEnd type="none" w="med" len="med"/>
                      <a:tailEnd type="none" w="med" len="med"/>
                    </a:lnL>
                    <a:lnR w="6350" cap="flat" cmpd="sng" algn="ctr">
                      <a:solidFill>
                        <a:srgbClr val="D7DBE2"/>
                      </a:solidFill>
                      <a:prstDash val="solid"/>
                      <a:round/>
                      <a:headEnd type="none" w="med" len="med"/>
                      <a:tailEnd type="none" w="med" len="med"/>
                    </a:lnR>
                    <a:lnT w="6350" cap="flat" cmpd="sng" algn="ctr">
                      <a:solidFill>
                        <a:srgbClr val="D7DBE2"/>
                      </a:solidFill>
                      <a:prstDash val="solid"/>
                      <a:round/>
                      <a:headEnd type="none" w="med" len="med"/>
                      <a:tailEnd type="none" w="med" len="med"/>
                    </a:lnT>
                    <a:lnB w="6350" cap="flat" cmpd="sng" algn="ctr">
                      <a:solidFill>
                        <a:srgbClr val="D7DBE2"/>
                      </a:solidFill>
                      <a:prstDash val="solid"/>
                      <a:round/>
                      <a:headEnd type="none" w="med" len="med"/>
                      <a:tailEnd type="none" w="med" len="med"/>
                    </a:lnB>
                    <a:solidFill>
                      <a:schemeClr val="tx1"/>
                    </a:solidFill>
                  </a:tcPr>
                </a:tc>
                <a:tc>
                  <a:txBody>
                    <a:bodyPr/>
                    <a:lstStyle/>
                    <a:p>
                      <a:pPr indent="0" marL="0">
                        <a:buNone/>
                      </a:pPr>
                      <a:r>
                        <a:rPr lang="en-US" sz="1400" b="1" dirty="0">
                          <a:solidFill>
                            <a:schemeClr val="bg1"/>
                          </a:solidFill>
                        </a:rPr>
                        <a:t>Products moved</a:t>
                      </a:r>
                      <a:endParaRPr lang="en-US" sz="1400" dirty="0"/>
                    </a:p>
                  </a:txBody>
                  <a:tcPr marL="54864" marR="54864" marT="54864" marB="54864">
                    <a:lnL w="6350" cap="flat" cmpd="sng" algn="ctr">
                      <a:solidFill>
                        <a:srgbClr val="D7DBE2"/>
                      </a:solidFill>
                      <a:prstDash val="solid"/>
                      <a:round/>
                      <a:headEnd type="none" w="med" len="med"/>
                      <a:tailEnd type="none" w="med" len="med"/>
                    </a:lnL>
                    <a:lnR w="6350" cap="flat" cmpd="sng" algn="ctr">
                      <a:solidFill>
                        <a:srgbClr val="D7DBE2"/>
                      </a:solidFill>
                      <a:prstDash val="solid"/>
                      <a:round/>
                      <a:headEnd type="none" w="med" len="med"/>
                      <a:tailEnd type="none" w="med" len="med"/>
                    </a:lnR>
                    <a:lnT w="6350" cap="flat" cmpd="sng" algn="ctr">
                      <a:solidFill>
                        <a:srgbClr val="D7DBE2"/>
                      </a:solidFill>
                      <a:prstDash val="solid"/>
                      <a:round/>
                      <a:headEnd type="none" w="med" len="med"/>
                      <a:tailEnd type="none" w="med" len="med"/>
                    </a:lnT>
                    <a:lnB w="6350" cap="flat" cmpd="sng" algn="ctr">
                      <a:solidFill>
                        <a:srgbClr val="D7DBE2"/>
                      </a:solidFill>
                      <a:prstDash val="solid"/>
                      <a:round/>
                      <a:headEnd type="none" w="med" len="med"/>
                      <a:tailEnd type="none" w="med" len="med"/>
                    </a:lnB>
                    <a:solidFill>
                      <a:schemeClr val="tx1"/>
                    </a:solidFill>
                  </a:tcPr>
                </a:tc>
              </a:tr>
              <a:tr h="310896">
                <a:tc>
                  <a:txBody>
                    <a:bodyPr/>
                    <a:lstStyle/>
                    <a:p>
                      <a:pPr indent="0" marL="0">
                        <a:buNone/>
                      </a:pPr>
                      <a:r>
                        <a:rPr lang="en-US" sz="1400" dirty="0">
                          <a:solidFill>
                            <a:schemeClr val="tx1"/>
                          </a:solidFill>
                        </a:rPr>
                        <a:t>Max saving</a:t>
                      </a:r>
                      <a:endParaRPr lang="en-US" sz="1400" dirty="0"/>
                    </a:p>
                  </a:txBody>
                  <a:tcPr marL="54864" marR="54864" marT="54864" marB="54864">
                    <a:lnL w="6350" cap="flat" cmpd="sng" algn="ctr">
                      <a:solidFill>
                        <a:srgbClr val="D7DBE2"/>
                      </a:solidFill>
                      <a:prstDash val="solid"/>
                      <a:round/>
                      <a:headEnd type="none" w="med" len="med"/>
                      <a:tailEnd type="none" w="med" len="med"/>
                    </a:lnL>
                    <a:lnR w="6350" cap="flat" cmpd="sng" algn="ctr">
                      <a:solidFill>
                        <a:srgbClr val="D7DBE2"/>
                      </a:solidFill>
                      <a:prstDash val="solid"/>
                      <a:round/>
                      <a:headEnd type="none" w="med" len="med"/>
                      <a:tailEnd type="none" w="med" len="med"/>
                    </a:lnR>
                    <a:lnT w="6350" cap="flat" cmpd="sng" algn="ctr">
                      <a:solidFill>
                        <a:srgbClr val="D7DBE2"/>
                      </a:solidFill>
                      <a:prstDash val="solid"/>
                      <a:round/>
                      <a:headEnd type="none" w="med" len="med"/>
                      <a:tailEnd type="none" w="med" len="med"/>
                    </a:lnT>
                    <a:lnB w="6350" cap="flat" cmpd="sng" algn="ctr">
                      <a:solidFill>
                        <a:srgbClr val="D7DBE2"/>
                      </a:solidFill>
                      <a:prstDash val="solid"/>
                      <a:round/>
                      <a:headEnd type="none" w="med" len="med"/>
                      <a:tailEnd type="none" w="med" len="med"/>
                    </a:lnB>
                  </a:tcPr>
                </a:tc>
                <a:tc>
                  <a:txBody>
                    <a:bodyPr/>
                    <a:lstStyle/>
                    <a:p>
                      <a:pPr indent="0" marL="0">
                        <a:buNone/>
                      </a:pPr>
                      <a:r>
                        <a:rPr lang="en-US" sz="1400" dirty="0">
                          <a:solidFill>
                            <a:schemeClr val="tx1"/>
                          </a:solidFill>
                        </a:rPr>
                        <a:t>7.0–8.1%</a:t>
                      </a:r>
                      <a:endParaRPr lang="en-US" sz="1400" dirty="0"/>
                    </a:p>
                  </a:txBody>
                  <a:tcPr marL="54864" marR="54864" marT="54864" marB="54864">
                    <a:lnL w="6350" cap="flat" cmpd="sng" algn="ctr">
                      <a:solidFill>
                        <a:srgbClr val="D7DBE2"/>
                      </a:solidFill>
                      <a:prstDash val="solid"/>
                      <a:round/>
                      <a:headEnd type="none" w="med" len="med"/>
                      <a:tailEnd type="none" w="med" len="med"/>
                    </a:lnL>
                    <a:lnR w="6350" cap="flat" cmpd="sng" algn="ctr">
                      <a:solidFill>
                        <a:srgbClr val="D7DBE2"/>
                      </a:solidFill>
                      <a:prstDash val="solid"/>
                      <a:round/>
                      <a:headEnd type="none" w="med" len="med"/>
                      <a:tailEnd type="none" w="med" len="med"/>
                    </a:lnR>
                    <a:lnT w="6350" cap="flat" cmpd="sng" algn="ctr">
                      <a:solidFill>
                        <a:srgbClr val="D7DBE2"/>
                      </a:solidFill>
                      <a:prstDash val="solid"/>
                      <a:round/>
                      <a:headEnd type="none" w="med" len="med"/>
                      <a:tailEnd type="none" w="med" len="med"/>
                    </a:lnT>
                    <a:lnB w="6350" cap="flat" cmpd="sng" algn="ctr">
                      <a:solidFill>
                        <a:srgbClr val="D7DBE2"/>
                      </a:solidFill>
                      <a:prstDash val="solid"/>
                      <a:round/>
                      <a:headEnd type="none" w="med" len="med"/>
                      <a:tailEnd type="none" w="med" len="med"/>
                    </a:lnB>
                  </a:tcPr>
                </a:tc>
                <a:tc>
                  <a:txBody>
                    <a:bodyPr/>
                    <a:lstStyle/>
                    <a:p>
                      <a:pPr indent="0" marL="0">
                        <a:buNone/>
                      </a:pPr>
                      <a:r>
                        <a:rPr lang="en-US" sz="1400" dirty="0">
                          <a:solidFill>
                            <a:schemeClr val="tx1"/>
                          </a:solidFill>
                        </a:rPr>
                        <a:t>92–97</a:t>
                      </a:r>
                      <a:endParaRPr lang="en-US" sz="1400" dirty="0"/>
                    </a:p>
                  </a:txBody>
                  <a:tcPr marL="54864" marR="54864" marT="54864" marB="54864">
                    <a:lnL w="6350" cap="flat" cmpd="sng" algn="ctr">
                      <a:solidFill>
                        <a:srgbClr val="D7DBE2"/>
                      </a:solidFill>
                      <a:prstDash val="solid"/>
                      <a:round/>
                      <a:headEnd type="none" w="med" len="med"/>
                      <a:tailEnd type="none" w="med" len="med"/>
                    </a:lnL>
                    <a:lnR w="6350" cap="flat" cmpd="sng" algn="ctr">
                      <a:solidFill>
                        <a:srgbClr val="D7DBE2"/>
                      </a:solidFill>
                      <a:prstDash val="solid"/>
                      <a:round/>
                      <a:headEnd type="none" w="med" len="med"/>
                      <a:tailEnd type="none" w="med" len="med"/>
                    </a:lnR>
                    <a:lnT w="6350" cap="flat" cmpd="sng" algn="ctr">
                      <a:solidFill>
                        <a:srgbClr val="D7DBE2"/>
                      </a:solidFill>
                      <a:prstDash val="solid"/>
                      <a:round/>
                      <a:headEnd type="none" w="med" len="med"/>
                      <a:tailEnd type="none" w="med" len="med"/>
                    </a:lnT>
                    <a:lnB w="6350" cap="flat" cmpd="sng" algn="ctr">
                      <a:solidFill>
                        <a:srgbClr val="D7DBE2"/>
                      </a:solidFill>
                      <a:prstDash val="solid"/>
                      <a:round/>
                      <a:headEnd type="none" w="med" len="med"/>
                      <a:tailEnd type="none" w="med" len="med"/>
                    </a:lnB>
                  </a:tcPr>
                </a:tc>
              </a:tr>
              <a:tr h="310896">
                <a:tc>
                  <a:txBody>
                    <a:bodyPr/>
                    <a:lstStyle/>
                    <a:p>
                      <a:pPr indent="0" marL="0">
                        <a:buNone/>
                      </a:pPr>
                      <a:r>
                        <a:rPr lang="en-US" sz="1400" dirty="0">
                          <a:solidFill>
                            <a:schemeClr val="tx1"/>
                          </a:solidFill>
                        </a:rPr>
                        <a:t>Balanced (default)</a:t>
                      </a:r>
                      <a:endParaRPr lang="en-US" sz="1400" dirty="0"/>
                    </a:p>
                  </a:txBody>
                  <a:tcPr marL="54864" marR="54864" marT="54864" marB="54864">
                    <a:lnL w="6350" cap="flat" cmpd="sng" algn="ctr">
                      <a:solidFill>
                        <a:srgbClr val="D7DBE2"/>
                      </a:solidFill>
                      <a:prstDash val="solid"/>
                      <a:round/>
                      <a:headEnd type="none" w="med" len="med"/>
                      <a:tailEnd type="none" w="med" len="med"/>
                    </a:lnL>
                    <a:lnR w="6350" cap="flat" cmpd="sng" algn="ctr">
                      <a:solidFill>
                        <a:srgbClr val="D7DBE2"/>
                      </a:solidFill>
                      <a:prstDash val="solid"/>
                      <a:round/>
                      <a:headEnd type="none" w="med" len="med"/>
                      <a:tailEnd type="none" w="med" len="med"/>
                    </a:lnR>
                    <a:lnT w="6350" cap="flat" cmpd="sng" algn="ctr">
                      <a:solidFill>
                        <a:srgbClr val="D7DBE2"/>
                      </a:solidFill>
                      <a:prstDash val="solid"/>
                      <a:round/>
                      <a:headEnd type="none" w="med" len="med"/>
                      <a:tailEnd type="none" w="med" len="med"/>
                    </a:lnT>
                    <a:lnB w="6350" cap="flat" cmpd="sng" algn="ctr">
                      <a:solidFill>
                        <a:srgbClr val="D7DBE2"/>
                      </a:solidFill>
                      <a:prstDash val="solid"/>
                      <a:round/>
                      <a:headEnd type="none" w="med" len="med"/>
                      <a:tailEnd type="none" w="med" len="med"/>
                    </a:lnB>
                  </a:tcPr>
                </a:tc>
                <a:tc>
                  <a:txBody>
                    <a:bodyPr/>
                    <a:lstStyle/>
                    <a:p>
                      <a:pPr indent="0" marL="0">
                        <a:buNone/>
                      </a:pPr>
                      <a:r>
                        <a:rPr lang="en-US" sz="1400" dirty="0">
                          <a:solidFill>
                            <a:schemeClr val="tx1"/>
                          </a:solidFill>
                        </a:rPr>
                        <a:t>5.7–6.9%</a:t>
                      </a:r>
                      <a:endParaRPr lang="en-US" sz="1400" dirty="0"/>
                    </a:p>
                  </a:txBody>
                  <a:tcPr marL="54864" marR="54864" marT="54864" marB="54864">
                    <a:lnL w="6350" cap="flat" cmpd="sng" algn="ctr">
                      <a:solidFill>
                        <a:srgbClr val="D7DBE2"/>
                      </a:solidFill>
                      <a:prstDash val="solid"/>
                      <a:round/>
                      <a:headEnd type="none" w="med" len="med"/>
                      <a:tailEnd type="none" w="med" len="med"/>
                    </a:lnL>
                    <a:lnR w="6350" cap="flat" cmpd="sng" algn="ctr">
                      <a:solidFill>
                        <a:srgbClr val="D7DBE2"/>
                      </a:solidFill>
                      <a:prstDash val="solid"/>
                      <a:round/>
                      <a:headEnd type="none" w="med" len="med"/>
                      <a:tailEnd type="none" w="med" len="med"/>
                    </a:lnR>
                    <a:lnT w="6350" cap="flat" cmpd="sng" algn="ctr">
                      <a:solidFill>
                        <a:srgbClr val="D7DBE2"/>
                      </a:solidFill>
                      <a:prstDash val="solid"/>
                      <a:round/>
                      <a:headEnd type="none" w="med" len="med"/>
                      <a:tailEnd type="none" w="med" len="med"/>
                    </a:lnT>
                    <a:lnB w="6350" cap="flat" cmpd="sng" algn="ctr">
                      <a:solidFill>
                        <a:srgbClr val="D7DBE2"/>
                      </a:solidFill>
                      <a:prstDash val="solid"/>
                      <a:round/>
                      <a:headEnd type="none" w="med" len="med"/>
                      <a:tailEnd type="none" w="med" len="med"/>
                    </a:lnB>
                  </a:tcPr>
                </a:tc>
                <a:tc>
                  <a:txBody>
                    <a:bodyPr/>
                    <a:lstStyle/>
                    <a:p>
                      <a:pPr indent="0" marL="0">
                        <a:buNone/>
                      </a:pPr>
                      <a:r>
                        <a:rPr lang="en-US" sz="1400" dirty="0">
                          <a:solidFill>
                            <a:schemeClr val="tx1"/>
                          </a:solidFill>
                        </a:rPr>
                        <a:t>50–57</a:t>
                      </a:r>
                      <a:endParaRPr lang="en-US" sz="1400" dirty="0"/>
                    </a:p>
                  </a:txBody>
                  <a:tcPr marL="54864" marR="54864" marT="54864" marB="54864">
                    <a:lnL w="6350" cap="flat" cmpd="sng" algn="ctr">
                      <a:solidFill>
                        <a:srgbClr val="D7DBE2"/>
                      </a:solidFill>
                      <a:prstDash val="solid"/>
                      <a:round/>
                      <a:headEnd type="none" w="med" len="med"/>
                      <a:tailEnd type="none" w="med" len="med"/>
                    </a:lnL>
                    <a:lnR w="6350" cap="flat" cmpd="sng" algn="ctr">
                      <a:solidFill>
                        <a:srgbClr val="D7DBE2"/>
                      </a:solidFill>
                      <a:prstDash val="solid"/>
                      <a:round/>
                      <a:headEnd type="none" w="med" len="med"/>
                      <a:tailEnd type="none" w="med" len="med"/>
                    </a:lnR>
                    <a:lnT w="6350" cap="flat" cmpd="sng" algn="ctr">
                      <a:solidFill>
                        <a:srgbClr val="D7DBE2"/>
                      </a:solidFill>
                      <a:prstDash val="solid"/>
                      <a:round/>
                      <a:headEnd type="none" w="med" len="med"/>
                      <a:tailEnd type="none" w="med" len="med"/>
                    </a:lnT>
                    <a:lnB w="6350" cap="flat" cmpd="sng" algn="ctr">
                      <a:solidFill>
                        <a:srgbClr val="D7DBE2"/>
                      </a:solidFill>
                      <a:prstDash val="solid"/>
                      <a:round/>
                      <a:headEnd type="none" w="med" len="med"/>
                      <a:tailEnd type="none" w="med" len="med"/>
                    </a:lnB>
                  </a:tcPr>
                </a:tc>
              </a:tr>
              <a:tr h="310896">
                <a:tc>
                  <a:txBody>
                    <a:bodyPr/>
                    <a:lstStyle/>
                    <a:p>
                      <a:pPr indent="0" marL="0">
                        <a:buNone/>
                      </a:pPr>
                      <a:r>
                        <a:rPr lang="en-US" sz="1400" dirty="0">
                          <a:solidFill>
                            <a:schemeClr val="tx1"/>
                          </a:solidFill>
                        </a:rPr>
                        <a:t>Fewer moves</a:t>
                      </a:r>
                      <a:endParaRPr lang="en-US" sz="1400" dirty="0"/>
                    </a:p>
                  </a:txBody>
                  <a:tcPr marL="54864" marR="54864" marT="54864" marB="54864">
                    <a:lnL w="6350" cap="flat" cmpd="sng" algn="ctr">
                      <a:solidFill>
                        <a:srgbClr val="D7DBE2"/>
                      </a:solidFill>
                      <a:prstDash val="solid"/>
                      <a:round/>
                      <a:headEnd type="none" w="med" len="med"/>
                      <a:tailEnd type="none" w="med" len="med"/>
                    </a:lnL>
                    <a:lnR w="6350" cap="flat" cmpd="sng" algn="ctr">
                      <a:solidFill>
                        <a:srgbClr val="D7DBE2"/>
                      </a:solidFill>
                      <a:prstDash val="solid"/>
                      <a:round/>
                      <a:headEnd type="none" w="med" len="med"/>
                      <a:tailEnd type="none" w="med" len="med"/>
                    </a:lnR>
                    <a:lnT w="6350" cap="flat" cmpd="sng" algn="ctr">
                      <a:solidFill>
                        <a:srgbClr val="D7DBE2"/>
                      </a:solidFill>
                      <a:prstDash val="solid"/>
                      <a:round/>
                      <a:headEnd type="none" w="med" len="med"/>
                      <a:tailEnd type="none" w="med" len="med"/>
                    </a:lnT>
                    <a:lnB w="6350" cap="flat" cmpd="sng" algn="ctr">
                      <a:solidFill>
                        <a:srgbClr val="D7DBE2"/>
                      </a:solidFill>
                      <a:prstDash val="solid"/>
                      <a:round/>
                      <a:headEnd type="none" w="med" len="med"/>
                      <a:tailEnd type="none" w="med" len="med"/>
                    </a:lnB>
                  </a:tcPr>
                </a:tc>
                <a:tc>
                  <a:txBody>
                    <a:bodyPr/>
                    <a:lstStyle/>
                    <a:p>
                      <a:pPr indent="0" marL="0">
                        <a:buNone/>
                      </a:pPr>
                      <a:r>
                        <a:rPr lang="en-US" sz="1400" dirty="0">
                          <a:solidFill>
                            <a:schemeClr val="tx1"/>
                          </a:solidFill>
                        </a:rPr>
                        <a:t>3.6–4.4%</a:t>
                      </a:r>
                      <a:endParaRPr lang="en-US" sz="1400" dirty="0"/>
                    </a:p>
                  </a:txBody>
                  <a:tcPr marL="54864" marR="54864" marT="54864" marB="54864">
                    <a:lnL w="6350" cap="flat" cmpd="sng" algn="ctr">
                      <a:solidFill>
                        <a:srgbClr val="D7DBE2"/>
                      </a:solidFill>
                      <a:prstDash val="solid"/>
                      <a:round/>
                      <a:headEnd type="none" w="med" len="med"/>
                      <a:tailEnd type="none" w="med" len="med"/>
                    </a:lnL>
                    <a:lnR w="6350" cap="flat" cmpd="sng" algn="ctr">
                      <a:solidFill>
                        <a:srgbClr val="D7DBE2"/>
                      </a:solidFill>
                      <a:prstDash val="solid"/>
                      <a:round/>
                      <a:headEnd type="none" w="med" len="med"/>
                      <a:tailEnd type="none" w="med" len="med"/>
                    </a:lnR>
                    <a:lnT w="6350" cap="flat" cmpd="sng" algn="ctr">
                      <a:solidFill>
                        <a:srgbClr val="D7DBE2"/>
                      </a:solidFill>
                      <a:prstDash val="solid"/>
                      <a:round/>
                      <a:headEnd type="none" w="med" len="med"/>
                      <a:tailEnd type="none" w="med" len="med"/>
                    </a:lnT>
                    <a:lnB w="6350" cap="flat" cmpd="sng" algn="ctr">
                      <a:solidFill>
                        <a:srgbClr val="D7DBE2"/>
                      </a:solidFill>
                      <a:prstDash val="solid"/>
                      <a:round/>
                      <a:headEnd type="none" w="med" len="med"/>
                      <a:tailEnd type="none" w="med" len="med"/>
                    </a:lnB>
                  </a:tcPr>
                </a:tc>
                <a:tc>
                  <a:txBody>
                    <a:bodyPr/>
                    <a:lstStyle/>
                    <a:p>
                      <a:pPr indent="0" marL="0">
                        <a:buNone/>
                      </a:pPr>
                      <a:r>
                        <a:rPr lang="en-US" sz="1400" dirty="0">
                          <a:solidFill>
                            <a:schemeClr val="tx1"/>
                          </a:solidFill>
                        </a:rPr>
                        <a:t>26–33</a:t>
                      </a:r>
                      <a:endParaRPr lang="en-US" sz="1400" dirty="0"/>
                    </a:p>
                  </a:txBody>
                  <a:tcPr marL="54864" marR="54864" marT="54864" marB="54864">
                    <a:lnL w="6350" cap="flat" cmpd="sng" algn="ctr">
                      <a:solidFill>
                        <a:srgbClr val="D7DBE2"/>
                      </a:solidFill>
                      <a:prstDash val="solid"/>
                      <a:round/>
                      <a:headEnd type="none" w="med" len="med"/>
                      <a:tailEnd type="none" w="med" len="med"/>
                    </a:lnL>
                    <a:lnR w="6350" cap="flat" cmpd="sng" algn="ctr">
                      <a:solidFill>
                        <a:srgbClr val="D7DBE2"/>
                      </a:solidFill>
                      <a:prstDash val="solid"/>
                      <a:round/>
                      <a:headEnd type="none" w="med" len="med"/>
                      <a:tailEnd type="none" w="med" len="med"/>
                    </a:lnR>
                    <a:lnT w="6350" cap="flat" cmpd="sng" algn="ctr">
                      <a:solidFill>
                        <a:srgbClr val="D7DBE2"/>
                      </a:solidFill>
                      <a:prstDash val="solid"/>
                      <a:round/>
                      <a:headEnd type="none" w="med" len="med"/>
                      <a:tailEnd type="none" w="med" len="med"/>
                    </a:lnT>
                    <a:lnB w="6350" cap="flat" cmpd="sng" algn="ctr">
                      <a:solidFill>
                        <a:srgbClr val="D7DBE2"/>
                      </a:solidFill>
                      <a:prstDash val="solid"/>
                      <a:round/>
                      <a:headEnd type="none" w="med" len="med"/>
                      <a:tailEnd type="none" w="med" len="med"/>
                    </a:lnB>
                  </a:tcPr>
                </a:tc>
              </a:tr>
            </a:tbl>
          </a:graphicData>
        </a:graphic>
      </p:graphicFrame>
      <p:sp>
        <p:nvSpPr>
          <p:cNvPr id="20" name="Text 14"/>
          <p:cNvSpPr txBox="1"/>
          <p:nvPr/>
        </p:nvSpPr>
        <p:spPr>
          <a:xfrm>
            <a:off x="7818120" y="4206240"/>
            <a:ext cx="3840480" cy="1737360"/>
          </a:xfrm>
          <a:prstGeom prst="rect">
            <a:avLst/>
          </a:prstGeom>
          <a:noFill/>
          <a:ln/>
        </p:spPr>
        <p:txBody>
          <a:bodyPr wrap="square" lIns="0" tIns="0" rIns="0" bIns="0" rtlCol="0" anchor="t"/>
          <a:lstStyle/>
          <a:p>
            <a:pPr indent="0" marL="0">
              <a:buNone/>
            </a:pPr>
            <a:r>
              <a:rPr lang="en-US" sz="1500" i="1" dirty="0">
                <a:solidFill>
                  <a:schemeClr val="tx2"/>
                </a:solidFill>
              </a:rPr>
              <a:t>Each moved product costs the optimiser time, so it keeps the moves that pay. Assumptions (£ per hour, minutes per move) are editable in the app.</a:t>
            </a:r>
            <a:endParaRPr lang="en-US" sz="1500" dirty="0"/>
          </a:p>
        </p:txBody>
      </p:sp>
      <p:sp>
        <p:nvSpPr>
          <p:cNvPr id="21" name="Source"/>
          <p:cNvSpPr txBox="1"/>
          <p:nvPr/>
        </p:nvSpPr>
        <p:spPr>
          <a:xfrm>
            <a:off x="6217920" y="6446520"/>
            <a:ext cx="4785055" cy="274320"/>
          </a:xfrm>
          <a:prstGeom prst="rect">
            <a:avLst/>
          </a:prstGeom>
          <a:noFill/>
          <a:ln/>
        </p:spPr>
        <p:txBody>
          <a:bodyPr wrap="square" lIns="0" tIns="0" rIns="0" bIns="0" rtlCol="0" anchor="ctr"/>
          <a:lstStyle/>
          <a:p>
            <a:pPr algn="r" indent="0" marL="0">
              <a:buNone/>
            </a:pPr>
            <a:r>
              <a:rPr lang="en-US" sz="1000" dirty="0">
                <a:solidFill>
                  <a:schemeClr val="accent5"/>
                </a:solidFill>
              </a:rPr>
              <a:t>Seeds 1–3 on the test week; £ and hours cover this pick zone only.</a:t>
            </a:r>
            <a:endParaRPr lang="en-US" sz="1000" dirty="0"/>
          </a:p>
        </p:txBody>
      </p:sp>
      <p:sp>
        <p:nvSpPr>
          <p:cNvPr id="25" name="Slide Number Placeholder 0"/>
          <p:cNvSpPr>
            <a:spLocks noGrp="1"/>
          </p:cNvSpPr>
          <p:nvPr>
            <p:ph type="sldNum" sz="quarter" idx="4294967295"/>
          </p:nvPr>
        </p:nvSpPr>
        <p:spPr>
          <a:xfrm>
            <a:off x="1109441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48640" y="411480"/>
            <a:ext cx="11094415" cy="731520"/>
          </a:xfrm>
          <a:prstGeom prst="rect">
            <a:avLst/>
          </a:prstGeom>
          <a:noFill/>
          <a:ln/>
        </p:spPr>
        <p:txBody>
          <a:bodyPr wrap="square" lIns="0" tIns="0" rIns="0" bIns="0" rtlCol="0" anchor="ctr"/>
          <a:lstStyle/>
          <a:p>
            <a:pPr algn="l" indent="0" marL="0">
              <a:buNone/>
            </a:pPr>
            <a:r>
              <a:rPr lang="en-US" sz="2800" b="1" dirty="0">
                <a:solidFill>
                  <a:schemeClr val="tx1"/>
                </a:solidFill>
              </a:rPr>
              <a:t>Batch picking is the biggest lever, and slotting still adds to it</a:t>
            </a:r>
            <a:endParaRPr lang="en-US" sz="2800" dirty="0"/>
          </a:p>
        </p:txBody>
      </p:sp>
      <p:graphicFrame>
        <p:nvGraphicFramePr>
          <p:cNvPr id="3" name="Chart 0" descr=""/>
          <p:cNvGraphicFramePr/>
          <p:nvPr/>
        </p:nvGraphicFramePr>
        <p:xfrm>
          <a:off x="548640" y="1417320"/>
          <a:ext cx="6949440" cy="4526280"/>
        </p:xfrm>
        <a:graphic xmlns:a="http://schemas.openxmlformats.org/drawingml/2006/main">
          <a:graphicData uri="http://schemas.openxmlformats.org/drawingml/2006/chart">
            <c:chart xmlns:c="http://schemas.openxmlformats.org/drawingml/2006/chart" r:id="rId1"/>
          </a:graphicData>
        </a:graphic>
      </p:graphicFrame>
      <p:sp>
        <p:nvSpPr>
          <p:cNvPr id="4" name="Text 1"/>
          <p:cNvSpPr txBox="1"/>
          <p:nvPr/>
        </p:nvSpPr>
        <p:spPr>
          <a:xfrm>
            <a:off x="7818120" y="1600200"/>
            <a:ext cx="3840480" cy="777240"/>
          </a:xfrm>
          <a:prstGeom prst="rect">
            <a:avLst/>
          </a:prstGeom>
          <a:noFill/>
          <a:ln/>
        </p:spPr>
        <p:txBody>
          <a:bodyPr wrap="square" lIns="0" tIns="0" rIns="0" bIns="0" rtlCol="0" anchor="ctr"/>
          <a:lstStyle/>
          <a:p>
            <a:pPr indent="0" marL="0">
              <a:buNone/>
            </a:pPr>
            <a:r>
              <a:rPr lang="en-US" sz="5200" b="1" dirty="0">
                <a:solidFill>
                  <a:schemeClr val="accent4"/>
                </a:solidFill>
                <a:latin typeface="Arial" pitchFamily="34" charset="0"/>
                <a:ea typeface="Arial" pitchFamily="34" charset="-122"/>
                <a:cs typeface="Arial" pitchFamily="34" charset="-120"/>
              </a:rPr>
              <a:t>−60%</a:t>
            </a:r>
            <a:endParaRPr lang="en-US" sz="5200" dirty="0"/>
          </a:p>
        </p:txBody>
      </p:sp>
      <p:sp>
        <p:nvSpPr>
          <p:cNvPr id="5" name="Text 2"/>
          <p:cNvSpPr txBox="1"/>
          <p:nvPr/>
        </p:nvSpPr>
        <p:spPr>
          <a:xfrm>
            <a:off x="7818120" y="2377440"/>
            <a:ext cx="3840480" cy="548640"/>
          </a:xfrm>
          <a:prstGeom prst="rect">
            <a:avLst/>
          </a:prstGeom>
          <a:noFill/>
          <a:ln/>
        </p:spPr>
        <p:txBody>
          <a:bodyPr wrap="square" lIns="0" tIns="0" rIns="0" bIns="0" rtlCol="0" anchor="ctr"/>
          <a:lstStyle/>
          <a:p>
            <a:pPr indent="0" marL="0">
              <a:buNone/>
            </a:pPr>
            <a:r>
              <a:rPr lang="en-US" sz="1500" dirty="0">
                <a:solidFill>
                  <a:schemeClr val="tx2"/>
                </a:solidFill>
              </a:rPr>
              <a:t>walking with carts of 4 orders, grouped by proximity</a:t>
            </a:r>
            <a:endParaRPr lang="en-US" sz="1500" dirty="0"/>
          </a:p>
        </p:txBody>
      </p:sp>
      <p:sp>
        <p:nvSpPr>
          <p:cNvPr id="6" name="Text 3"/>
          <p:cNvSpPr txBox="1"/>
          <p:nvPr/>
        </p:nvSpPr>
        <p:spPr>
          <a:xfrm>
            <a:off x="7818120" y="3154680"/>
            <a:ext cx="3840480" cy="777240"/>
          </a:xfrm>
          <a:prstGeom prst="rect">
            <a:avLst/>
          </a:prstGeom>
          <a:noFill/>
          <a:ln/>
        </p:spPr>
        <p:txBody>
          <a:bodyPr wrap="square" lIns="0" tIns="0" rIns="0" bIns="0" rtlCol="0" anchor="ctr"/>
          <a:lstStyle/>
          <a:p>
            <a:pPr indent="0" marL="0">
              <a:buNone/>
            </a:pPr>
            <a:r>
              <a:rPr lang="en-US" sz="5200" b="1" dirty="0">
                <a:solidFill>
                  <a:schemeClr val="accent2"/>
                </a:solidFill>
                <a:latin typeface="Arial" pitchFamily="34" charset="0"/>
                <a:ea typeface="Arial" pitchFamily="34" charset="-122"/>
                <a:cs typeface="Arial" pitchFamily="34" charset="-120"/>
              </a:rPr>
              <a:t>−63.7%</a:t>
            </a:r>
            <a:endParaRPr lang="en-US" sz="5200" dirty="0"/>
          </a:p>
        </p:txBody>
      </p:sp>
      <p:sp>
        <p:nvSpPr>
          <p:cNvPr id="7" name="Text 4"/>
          <p:cNvSpPr txBox="1"/>
          <p:nvPr/>
        </p:nvSpPr>
        <p:spPr>
          <a:xfrm>
            <a:off x="7818120" y="3931920"/>
            <a:ext cx="3840480" cy="822960"/>
          </a:xfrm>
          <a:prstGeom prst="rect">
            <a:avLst/>
          </a:prstGeom>
          <a:noFill/>
          <a:ln/>
        </p:spPr>
        <p:txBody>
          <a:bodyPr wrap="square" lIns="0" tIns="0" rIns="0" bIns="0" rtlCol="0" anchor="t"/>
          <a:lstStyle/>
          <a:p>
            <a:pPr indent="0" marL="0">
              <a:buNone/>
            </a:pPr>
            <a:r>
              <a:rPr lang="en-US" sz="1500" dirty="0">
                <a:solidFill>
                  <a:schemeClr val="tx2"/>
                </a:solidFill>
              </a:rPr>
              <a:t>with the AI layout as well: batching cuts trips, slotting cuts each trip</a:t>
            </a:r>
            <a:endParaRPr lang="en-US" sz="1500" dirty="0"/>
          </a:p>
        </p:txBody>
      </p:sp>
      <p:sp>
        <p:nvSpPr>
          <p:cNvPr id="8" name="Source"/>
          <p:cNvSpPr txBox="1"/>
          <p:nvPr/>
        </p:nvSpPr>
        <p:spPr>
          <a:xfrm>
            <a:off x="6217920" y="6446520"/>
            <a:ext cx="4785055" cy="274320"/>
          </a:xfrm>
          <a:prstGeom prst="rect">
            <a:avLst/>
          </a:prstGeom>
          <a:noFill/>
          <a:ln/>
        </p:spPr>
        <p:txBody>
          <a:bodyPr wrap="square" lIns="0" tIns="0" rIns="0" bIns="0" rtlCol="0" anchor="ctr"/>
          <a:lstStyle/>
          <a:p>
            <a:pPr algn="r" indent="0" marL="0">
              <a:buNone/>
            </a:pPr>
            <a:r>
              <a:rPr lang="en-US" sz="1000" dirty="0">
                <a:solidFill>
                  <a:schemeClr val="accent5"/>
                </a:solidFill>
              </a:rPr>
              <a:t>vs Original single-order picking. Sorting at the dock not included.</a:t>
            </a:r>
            <a:endParaRPr lang="en-US" sz="1000" dirty="0"/>
          </a:p>
        </p:txBody>
      </p:sp>
      <p:sp>
        <p:nvSpPr>
          <p:cNvPr id="25" name="Slide Number Placeholder 0"/>
          <p:cNvSpPr>
            <a:spLocks noGrp="1"/>
          </p:cNvSpPr>
          <p:nvPr>
            <p:ph type="sldNum" sz="quarter" idx="4294967295"/>
          </p:nvPr>
        </p:nvSpPr>
        <p:spPr>
          <a:xfrm>
            <a:off x="1109441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548640" y="411480"/>
            <a:ext cx="11094415" cy="731520"/>
          </a:xfrm>
          <a:prstGeom prst="rect">
            <a:avLst/>
          </a:prstGeom>
          <a:noFill/>
          <a:ln/>
        </p:spPr>
        <p:txBody>
          <a:bodyPr wrap="square" lIns="0" tIns="0" rIns="0" bIns="0" rtlCol="0" anchor="ctr"/>
          <a:lstStyle/>
          <a:p>
            <a:pPr algn="l" indent="0" marL="0">
              <a:buNone/>
            </a:pPr>
            <a:r>
              <a:rPr lang="en-US" sz="2800" b="1" dirty="0">
                <a:solidFill>
                  <a:schemeClr val="tx1"/>
                </a:solidFill>
              </a:rPr>
              <a:t>Peak day: people, carts and congestion against a courier cut-off</a:t>
            </a:r>
            <a:endParaRPr lang="en-US" sz="2800" dirty="0"/>
          </a:p>
        </p:txBody>
      </p:sp>
      <p:pic>
        <p:nvPicPr>
          <p:cNvPr id="3" name="Screenshot peak" descr="/private/tmp/claude-501/-Users-meghagautam-Desktop-NexAI/7e06456b-d112-4e56-b42b-9598c9c036e7/scratchpad/deck/shots/peak.png">    </p:cNvPr>
          <p:cNvPicPr>
            <a:picLocks noChangeAspect="1"/>
          </p:cNvPicPr>
          <p:nvPr/>
        </p:nvPicPr>
        <p:blipFill>
          <a:blip r:embed="rId1"/>
          <a:stretch>
            <a:fillRect/>
          </a:stretch>
        </p:blipFill>
        <p:spPr>
          <a:xfrm>
            <a:off x="5440680" y="1463040"/>
            <a:ext cx="6217920" cy="3497580"/>
          </a:xfrm>
          <a:prstGeom prst="rect">
            <a:avLst/>
          </a:prstGeom>
          <a:effectLst>
            <a:outerShdw sx="100000" sy="100000" kx="0" ky="0" algn="bl" rotWithShape="0" blurRad="101600" dist="25400" dir="5400000">
              <a:srgbClr val="1D2433">
                <a:alpha val="18000"/>
              </a:srgbClr>
            </a:outerShdw>
          </a:effectLst>
        </p:spPr>
      </p:pic>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548640" y="1508760"/>
          <a:ext cx="4617720" cy="914400"/>
        </p:xfrm>
        <a:graphic>
          <a:graphicData uri="http://schemas.openxmlformats.org/drawingml/2006/table">
            <a:tbl>
              <a:tblPr/>
              <a:tblGrid>
                <a:gridCol w="1508760"/>
                <a:gridCol w="960120"/>
                <a:gridCol w="1051560"/>
                <a:gridCol w="1097280"/>
              </a:tblGrid>
              <a:tr h="411480">
                <a:tc>
                  <a:txBody>
                    <a:bodyPr/>
                    <a:lstStyle/>
                    <a:p>
                      <a:pPr algn="l" indent="0" marL="0">
                        <a:buNone/>
                      </a:pPr>
                      <a:r>
                        <a:rPr lang="en-US" sz="1400" b="1" dirty="0">
                          <a:solidFill>
                            <a:schemeClr val="bg1"/>
                          </a:solidFill>
                        </a:rPr>
                        <a:t>Pickers, cart</a:t>
                      </a:r>
                      <a:endParaRPr lang="en-US" sz="1400" dirty="0"/>
                    </a:p>
                  </a:txBody>
                  <a:tcPr marL="54864" marR="54864" marT="54864" marB="54864">
                    <a:lnL w="6350" cap="flat" cmpd="sng" algn="ctr">
                      <a:solidFill>
                        <a:srgbClr val="D7DBE2"/>
                      </a:solidFill>
                      <a:prstDash val="solid"/>
                      <a:round/>
                      <a:headEnd type="none" w="med" len="med"/>
                      <a:tailEnd type="none" w="med" len="med"/>
                    </a:lnL>
                    <a:lnR w="6350" cap="flat" cmpd="sng" algn="ctr">
                      <a:solidFill>
                        <a:srgbClr val="D7DBE2"/>
                      </a:solidFill>
                      <a:prstDash val="solid"/>
                      <a:round/>
                      <a:headEnd type="none" w="med" len="med"/>
                      <a:tailEnd type="none" w="med" len="med"/>
                    </a:lnR>
                    <a:lnT w="6350" cap="flat" cmpd="sng" algn="ctr">
                      <a:solidFill>
                        <a:srgbClr val="D7DBE2"/>
                      </a:solidFill>
                      <a:prstDash val="solid"/>
                      <a:round/>
                      <a:headEnd type="none" w="med" len="med"/>
                      <a:tailEnd type="none" w="med" len="med"/>
                    </a:lnT>
                    <a:lnB w="6350" cap="flat" cmpd="sng" algn="ctr">
                      <a:solidFill>
                        <a:srgbClr val="D7DBE2"/>
                      </a:solidFill>
                      <a:prstDash val="solid"/>
                      <a:round/>
                      <a:headEnd type="none" w="med" len="med"/>
                      <a:tailEnd type="none" w="med" len="med"/>
                    </a:lnB>
                    <a:solidFill>
                      <a:schemeClr val="tx1"/>
                    </a:solidFill>
                  </a:tcPr>
                </a:tc>
                <a:tc>
                  <a:txBody>
                    <a:bodyPr/>
                    <a:lstStyle/>
                    <a:p>
                      <a:pPr algn="l" indent="0" marL="0">
                        <a:buNone/>
                      </a:pPr>
                      <a:r>
                        <a:rPr lang="en-US" sz="1400" b="1" dirty="0">
                          <a:solidFill>
                            <a:schemeClr val="bg1"/>
                          </a:solidFill>
                        </a:rPr>
                        <a:t>Baseline</a:t>
                      </a:r>
                      <a:endParaRPr lang="en-US" sz="1400" dirty="0"/>
                    </a:p>
                  </a:txBody>
                  <a:tcPr marL="54864" marR="54864" marT="54864" marB="54864">
                    <a:lnL w="6350" cap="flat" cmpd="sng" algn="ctr">
                      <a:solidFill>
                        <a:srgbClr val="D7DBE2"/>
                      </a:solidFill>
                      <a:prstDash val="solid"/>
                      <a:round/>
                      <a:headEnd type="none" w="med" len="med"/>
                      <a:tailEnd type="none" w="med" len="med"/>
                    </a:lnL>
                    <a:lnR w="6350" cap="flat" cmpd="sng" algn="ctr">
                      <a:solidFill>
                        <a:srgbClr val="D7DBE2"/>
                      </a:solidFill>
                      <a:prstDash val="solid"/>
                      <a:round/>
                      <a:headEnd type="none" w="med" len="med"/>
                      <a:tailEnd type="none" w="med" len="med"/>
                    </a:lnR>
                    <a:lnT w="6350" cap="flat" cmpd="sng" algn="ctr">
                      <a:solidFill>
                        <a:srgbClr val="D7DBE2"/>
                      </a:solidFill>
                      <a:prstDash val="solid"/>
                      <a:round/>
                      <a:headEnd type="none" w="med" len="med"/>
                      <a:tailEnd type="none" w="med" len="med"/>
                    </a:lnT>
                    <a:lnB w="6350" cap="flat" cmpd="sng" algn="ctr">
                      <a:solidFill>
                        <a:srgbClr val="D7DBE2"/>
                      </a:solidFill>
                      <a:prstDash val="solid"/>
                      <a:round/>
                      <a:headEnd type="none" w="med" len="med"/>
                      <a:tailEnd type="none" w="med" len="med"/>
                    </a:lnB>
                    <a:solidFill>
                      <a:schemeClr val="tx1"/>
                    </a:solidFill>
                  </a:tcPr>
                </a:tc>
                <a:tc>
                  <a:txBody>
                    <a:bodyPr/>
                    <a:lstStyle/>
                    <a:p>
                      <a:pPr algn="l" indent="0" marL="0">
                        <a:buNone/>
                      </a:pPr>
                      <a:r>
                        <a:rPr lang="en-US" sz="1400" b="1" dirty="0">
                          <a:solidFill>
                            <a:schemeClr val="bg1"/>
                          </a:solidFill>
                        </a:rPr>
                        <a:t>AI layout</a:t>
                      </a:r>
                      <a:endParaRPr lang="en-US" sz="1400" dirty="0"/>
                    </a:p>
                  </a:txBody>
                  <a:tcPr marL="54864" marR="54864" marT="54864" marB="54864">
                    <a:lnL w="6350" cap="flat" cmpd="sng" algn="ctr">
                      <a:solidFill>
                        <a:srgbClr val="D7DBE2"/>
                      </a:solidFill>
                      <a:prstDash val="solid"/>
                      <a:round/>
                      <a:headEnd type="none" w="med" len="med"/>
                      <a:tailEnd type="none" w="med" len="med"/>
                    </a:lnL>
                    <a:lnR w="6350" cap="flat" cmpd="sng" algn="ctr">
                      <a:solidFill>
                        <a:srgbClr val="D7DBE2"/>
                      </a:solidFill>
                      <a:prstDash val="solid"/>
                      <a:round/>
                      <a:headEnd type="none" w="med" len="med"/>
                      <a:tailEnd type="none" w="med" len="med"/>
                    </a:lnR>
                    <a:lnT w="6350" cap="flat" cmpd="sng" algn="ctr">
                      <a:solidFill>
                        <a:srgbClr val="D7DBE2"/>
                      </a:solidFill>
                      <a:prstDash val="solid"/>
                      <a:round/>
                      <a:headEnd type="none" w="med" len="med"/>
                      <a:tailEnd type="none" w="med" len="med"/>
                    </a:lnT>
                    <a:lnB w="6350" cap="flat" cmpd="sng" algn="ctr">
                      <a:solidFill>
                        <a:srgbClr val="D7DBE2"/>
                      </a:solidFill>
                      <a:prstDash val="solid"/>
                      <a:round/>
                      <a:headEnd type="none" w="med" len="med"/>
                      <a:tailEnd type="none" w="med" len="med"/>
                    </a:lnB>
                    <a:solidFill>
                      <a:schemeClr val="tx1"/>
                    </a:solidFill>
                  </a:tcPr>
                </a:tc>
                <a:tc>
                  <a:txBody>
                    <a:bodyPr/>
                    <a:lstStyle/>
                    <a:p>
                      <a:pPr algn="l" indent="0" marL="0">
                        <a:buNone/>
                      </a:pPr>
                      <a:r>
                        <a:rPr lang="en-US" sz="1400" b="1" dirty="0">
                          <a:solidFill>
                            <a:schemeClr val="bg1"/>
                          </a:solidFill>
                        </a:rPr>
                        <a:t>Congestion</a:t>
                      </a:r>
                      <a:endParaRPr lang="en-US" sz="1400" dirty="0"/>
                    </a:p>
                  </a:txBody>
                  <a:tcPr marL="54864" marR="54864" marT="54864" marB="54864">
                    <a:lnL w="6350" cap="flat" cmpd="sng" algn="ctr">
                      <a:solidFill>
                        <a:srgbClr val="D7DBE2"/>
                      </a:solidFill>
                      <a:prstDash val="solid"/>
                      <a:round/>
                      <a:headEnd type="none" w="med" len="med"/>
                      <a:tailEnd type="none" w="med" len="med"/>
                    </a:lnL>
                    <a:lnR w="6350" cap="flat" cmpd="sng" algn="ctr">
                      <a:solidFill>
                        <a:srgbClr val="D7DBE2"/>
                      </a:solidFill>
                      <a:prstDash val="solid"/>
                      <a:round/>
                      <a:headEnd type="none" w="med" len="med"/>
                      <a:tailEnd type="none" w="med" len="med"/>
                    </a:lnR>
                    <a:lnT w="6350" cap="flat" cmpd="sng" algn="ctr">
                      <a:solidFill>
                        <a:srgbClr val="D7DBE2"/>
                      </a:solidFill>
                      <a:prstDash val="solid"/>
                      <a:round/>
                      <a:headEnd type="none" w="med" len="med"/>
                      <a:tailEnd type="none" w="med" len="med"/>
                    </a:lnT>
                    <a:lnB w="6350" cap="flat" cmpd="sng" algn="ctr">
                      <a:solidFill>
                        <a:srgbClr val="D7DBE2"/>
                      </a:solidFill>
                      <a:prstDash val="solid"/>
                      <a:round/>
                      <a:headEnd type="none" w="med" len="med"/>
                      <a:tailEnd type="none" w="med" len="med"/>
                    </a:lnB>
                    <a:solidFill>
                      <a:schemeClr val="tx1"/>
                    </a:solidFill>
                  </a:tcPr>
                </a:tc>
              </a:tr>
              <a:tr h="411480">
                <a:tc>
                  <a:txBody>
                    <a:bodyPr/>
                    <a:lstStyle/>
                    <a:p>
                      <a:pPr algn="l" indent="0" marL="0">
                        <a:buNone/>
                      </a:pPr>
                      <a:r>
                        <a:rPr lang="en-US" sz="1400" dirty="0">
                          <a:solidFill>
                            <a:schemeClr val="tx1"/>
                          </a:solidFill>
                        </a:rPr>
                        <a:t>2, single orders</a:t>
                      </a:r>
                      <a:endParaRPr lang="en-US" sz="1400" dirty="0"/>
                    </a:p>
                  </a:txBody>
                  <a:tcPr marL="54864" marR="54864" marT="54864" marB="54864">
                    <a:lnL w="6350" cap="flat" cmpd="sng" algn="ctr">
                      <a:solidFill>
                        <a:srgbClr val="D7DBE2"/>
                      </a:solidFill>
                      <a:prstDash val="solid"/>
                      <a:round/>
                      <a:headEnd type="none" w="med" len="med"/>
                      <a:tailEnd type="none" w="med" len="med"/>
                    </a:lnL>
                    <a:lnR w="6350" cap="flat" cmpd="sng" algn="ctr">
                      <a:solidFill>
                        <a:srgbClr val="D7DBE2"/>
                      </a:solidFill>
                      <a:prstDash val="solid"/>
                      <a:round/>
                      <a:headEnd type="none" w="med" len="med"/>
                      <a:tailEnd type="none" w="med" len="med"/>
                    </a:lnR>
                    <a:lnT w="6350" cap="flat" cmpd="sng" algn="ctr">
                      <a:solidFill>
                        <a:srgbClr val="D7DBE2"/>
                      </a:solidFill>
                      <a:prstDash val="solid"/>
                      <a:round/>
                      <a:headEnd type="none" w="med" len="med"/>
                      <a:tailEnd type="none" w="med" len="med"/>
                    </a:lnT>
                    <a:lnB w="6350" cap="flat" cmpd="sng" algn="ctr">
                      <a:solidFill>
                        <a:srgbClr val="D7DBE2"/>
                      </a:solidFill>
                      <a:prstDash val="solid"/>
                      <a:round/>
                      <a:headEnd type="none" w="med" len="med"/>
                      <a:tailEnd type="none" w="med" len="med"/>
                    </a:lnB>
                  </a:tcPr>
                </a:tc>
                <a:tc>
                  <a:txBody>
                    <a:bodyPr/>
                    <a:lstStyle/>
                    <a:p>
                      <a:pPr algn="l" indent="0" marL="0">
                        <a:buNone/>
                      </a:pPr>
                      <a:r>
                        <a:rPr lang="en-US" sz="1400" dirty="0">
                          <a:solidFill>
                            <a:schemeClr val="tx1"/>
                          </a:solidFill>
                        </a:rPr>
                        <a:t>62%</a:t>
                      </a:r>
                      <a:endParaRPr lang="en-US" sz="1400" dirty="0"/>
                    </a:p>
                  </a:txBody>
                  <a:tcPr marL="54864" marR="54864" marT="54864" marB="54864">
                    <a:lnL w="6350" cap="flat" cmpd="sng" algn="ctr">
                      <a:solidFill>
                        <a:srgbClr val="D7DBE2"/>
                      </a:solidFill>
                      <a:prstDash val="solid"/>
                      <a:round/>
                      <a:headEnd type="none" w="med" len="med"/>
                      <a:tailEnd type="none" w="med" len="med"/>
                    </a:lnL>
                    <a:lnR w="6350" cap="flat" cmpd="sng" algn="ctr">
                      <a:solidFill>
                        <a:srgbClr val="D7DBE2"/>
                      </a:solidFill>
                      <a:prstDash val="solid"/>
                      <a:round/>
                      <a:headEnd type="none" w="med" len="med"/>
                      <a:tailEnd type="none" w="med" len="med"/>
                    </a:lnR>
                    <a:lnT w="6350" cap="flat" cmpd="sng" algn="ctr">
                      <a:solidFill>
                        <a:srgbClr val="D7DBE2"/>
                      </a:solidFill>
                      <a:prstDash val="solid"/>
                      <a:round/>
                      <a:headEnd type="none" w="med" len="med"/>
                      <a:tailEnd type="none" w="med" len="med"/>
                    </a:lnT>
                    <a:lnB w="6350" cap="flat" cmpd="sng" algn="ctr">
                      <a:solidFill>
                        <a:srgbClr val="D7DBE2"/>
                      </a:solidFill>
                      <a:prstDash val="solid"/>
                      <a:round/>
                      <a:headEnd type="none" w="med" len="med"/>
                      <a:tailEnd type="none" w="med" len="med"/>
                    </a:lnB>
                  </a:tcPr>
                </a:tc>
                <a:tc>
                  <a:txBody>
                    <a:bodyPr/>
                    <a:lstStyle/>
                    <a:p>
                      <a:pPr algn="l" indent="0" marL="0">
                        <a:buNone/>
                      </a:pPr>
                      <a:r>
                        <a:rPr lang="en-US" sz="1400" dirty="0">
                          <a:solidFill>
                            <a:schemeClr val="tx1"/>
                          </a:solidFill>
                        </a:rPr>
                        <a:t>64%</a:t>
                      </a:r>
                      <a:endParaRPr lang="en-US" sz="1400" dirty="0"/>
                    </a:p>
                  </a:txBody>
                  <a:tcPr marL="54864" marR="54864" marT="54864" marB="54864">
                    <a:lnL w="6350" cap="flat" cmpd="sng" algn="ctr">
                      <a:solidFill>
                        <a:srgbClr val="D7DBE2"/>
                      </a:solidFill>
                      <a:prstDash val="solid"/>
                      <a:round/>
                      <a:headEnd type="none" w="med" len="med"/>
                      <a:tailEnd type="none" w="med" len="med"/>
                    </a:lnL>
                    <a:lnR w="6350" cap="flat" cmpd="sng" algn="ctr">
                      <a:solidFill>
                        <a:srgbClr val="D7DBE2"/>
                      </a:solidFill>
                      <a:prstDash val="solid"/>
                      <a:round/>
                      <a:headEnd type="none" w="med" len="med"/>
                      <a:tailEnd type="none" w="med" len="med"/>
                    </a:lnR>
                    <a:lnT w="6350" cap="flat" cmpd="sng" algn="ctr">
                      <a:solidFill>
                        <a:srgbClr val="D7DBE2"/>
                      </a:solidFill>
                      <a:prstDash val="solid"/>
                      <a:round/>
                      <a:headEnd type="none" w="med" len="med"/>
                      <a:tailEnd type="none" w="med" len="med"/>
                    </a:lnT>
                    <a:lnB w="6350" cap="flat" cmpd="sng" algn="ctr">
                      <a:solidFill>
                        <a:srgbClr val="D7DBE2"/>
                      </a:solidFill>
                      <a:prstDash val="solid"/>
                      <a:round/>
                      <a:headEnd type="none" w="med" len="med"/>
                      <a:tailEnd type="none" w="med" len="med"/>
                    </a:lnB>
                  </a:tcPr>
                </a:tc>
                <a:tc>
                  <a:txBody>
                    <a:bodyPr/>
                    <a:lstStyle/>
                    <a:p>
                      <a:pPr algn="l" indent="0" marL="0">
                        <a:buNone/>
                      </a:pPr>
                      <a:r>
                        <a:rPr lang="en-US" sz="1400" dirty="0">
                          <a:solidFill>
                            <a:schemeClr val="tx1"/>
                          </a:solidFill>
                        </a:rPr>
                        <a:t>11 min</a:t>
                      </a:r>
                      <a:endParaRPr lang="en-US" sz="1400" dirty="0"/>
                    </a:p>
                  </a:txBody>
                  <a:tcPr marL="54864" marR="54864" marT="54864" marB="54864">
                    <a:lnL w="6350" cap="flat" cmpd="sng" algn="ctr">
                      <a:solidFill>
                        <a:srgbClr val="D7DBE2"/>
                      </a:solidFill>
                      <a:prstDash val="solid"/>
                      <a:round/>
                      <a:headEnd type="none" w="med" len="med"/>
                      <a:tailEnd type="none" w="med" len="med"/>
                    </a:lnL>
                    <a:lnR w="6350" cap="flat" cmpd="sng" algn="ctr">
                      <a:solidFill>
                        <a:srgbClr val="D7DBE2"/>
                      </a:solidFill>
                      <a:prstDash val="solid"/>
                      <a:round/>
                      <a:headEnd type="none" w="med" len="med"/>
                      <a:tailEnd type="none" w="med" len="med"/>
                    </a:lnR>
                    <a:lnT w="6350" cap="flat" cmpd="sng" algn="ctr">
                      <a:solidFill>
                        <a:srgbClr val="D7DBE2"/>
                      </a:solidFill>
                      <a:prstDash val="solid"/>
                      <a:round/>
                      <a:headEnd type="none" w="med" len="med"/>
                      <a:tailEnd type="none" w="med" len="med"/>
                    </a:lnT>
                    <a:lnB w="6350" cap="flat" cmpd="sng" algn="ctr">
                      <a:solidFill>
                        <a:srgbClr val="D7DBE2"/>
                      </a:solidFill>
                      <a:prstDash val="solid"/>
                      <a:round/>
                      <a:headEnd type="none" w="med" len="med"/>
                      <a:tailEnd type="none" w="med" len="med"/>
                    </a:lnB>
                  </a:tcPr>
                </a:tc>
              </a:tr>
              <a:tr h="411480">
                <a:tc>
                  <a:txBody>
                    <a:bodyPr/>
                    <a:lstStyle/>
                    <a:p>
                      <a:pPr algn="l" indent="0" marL="0">
                        <a:buNone/>
                      </a:pPr>
                      <a:r>
                        <a:rPr lang="en-US" sz="1400" dirty="0">
                          <a:solidFill>
                            <a:schemeClr val="tx1"/>
                          </a:solidFill>
                        </a:rPr>
                        <a:t>3, single orders</a:t>
                      </a:r>
                      <a:endParaRPr lang="en-US" sz="1400" dirty="0"/>
                    </a:p>
                  </a:txBody>
                  <a:tcPr marL="54864" marR="54864" marT="54864" marB="54864">
                    <a:lnL w="6350" cap="flat" cmpd="sng" algn="ctr">
                      <a:solidFill>
                        <a:srgbClr val="D7DBE2"/>
                      </a:solidFill>
                      <a:prstDash val="solid"/>
                      <a:round/>
                      <a:headEnd type="none" w="med" len="med"/>
                      <a:tailEnd type="none" w="med" len="med"/>
                    </a:lnL>
                    <a:lnR w="6350" cap="flat" cmpd="sng" algn="ctr">
                      <a:solidFill>
                        <a:srgbClr val="D7DBE2"/>
                      </a:solidFill>
                      <a:prstDash val="solid"/>
                      <a:round/>
                      <a:headEnd type="none" w="med" len="med"/>
                      <a:tailEnd type="none" w="med" len="med"/>
                    </a:lnR>
                    <a:lnT w="6350" cap="flat" cmpd="sng" algn="ctr">
                      <a:solidFill>
                        <a:srgbClr val="D7DBE2"/>
                      </a:solidFill>
                      <a:prstDash val="solid"/>
                      <a:round/>
                      <a:headEnd type="none" w="med" len="med"/>
                      <a:tailEnd type="none" w="med" len="med"/>
                    </a:lnT>
                    <a:lnB w="6350" cap="flat" cmpd="sng" algn="ctr">
                      <a:solidFill>
                        <a:srgbClr val="D7DBE2"/>
                      </a:solidFill>
                      <a:prstDash val="solid"/>
                      <a:round/>
                      <a:headEnd type="none" w="med" len="med"/>
                      <a:tailEnd type="none" w="med" len="med"/>
                    </a:lnB>
                  </a:tcPr>
                </a:tc>
                <a:tc>
                  <a:txBody>
                    <a:bodyPr/>
                    <a:lstStyle/>
                    <a:p>
                      <a:pPr algn="l" indent="0" marL="0">
                        <a:buNone/>
                      </a:pPr>
                      <a:r>
                        <a:rPr lang="en-US" sz="1400" dirty="0">
                          <a:solidFill>
                            <a:schemeClr val="tx1"/>
                          </a:solidFill>
                        </a:rPr>
                        <a:t>84%</a:t>
                      </a:r>
                      <a:endParaRPr lang="en-US" sz="1400" dirty="0"/>
                    </a:p>
                  </a:txBody>
                  <a:tcPr marL="54864" marR="54864" marT="54864" marB="54864">
                    <a:lnL w="6350" cap="flat" cmpd="sng" algn="ctr">
                      <a:solidFill>
                        <a:srgbClr val="D7DBE2"/>
                      </a:solidFill>
                      <a:prstDash val="solid"/>
                      <a:round/>
                      <a:headEnd type="none" w="med" len="med"/>
                      <a:tailEnd type="none" w="med" len="med"/>
                    </a:lnL>
                    <a:lnR w="6350" cap="flat" cmpd="sng" algn="ctr">
                      <a:solidFill>
                        <a:srgbClr val="D7DBE2"/>
                      </a:solidFill>
                      <a:prstDash val="solid"/>
                      <a:round/>
                      <a:headEnd type="none" w="med" len="med"/>
                      <a:tailEnd type="none" w="med" len="med"/>
                    </a:lnR>
                    <a:lnT w="6350" cap="flat" cmpd="sng" algn="ctr">
                      <a:solidFill>
                        <a:srgbClr val="D7DBE2"/>
                      </a:solidFill>
                      <a:prstDash val="solid"/>
                      <a:round/>
                      <a:headEnd type="none" w="med" len="med"/>
                      <a:tailEnd type="none" w="med" len="med"/>
                    </a:lnT>
                    <a:lnB w="6350" cap="flat" cmpd="sng" algn="ctr">
                      <a:solidFill>
                        <a:srgbClr val="D7DBE2"/>
                      </a:solidFill>
                      <a:prstDash val="solid"/>
                      <a:round/>
                      <a:headEnd type="none" w="med" len="med"/>
                      <a:tailEnd type="none" w="med" len="med"/>
                    </a:lnB>
                  </a:tcPr>
                </a:tc>
                <a:tc>
                  <a:txBody>
                    <a:bodyPr/>
                    <a:lstStyle/>
                    <a:p>
                      <a:pPr algn="l" indent="0" marL="0">
                        <a:buNone/>
                      </a:pPr>
                      <a:r>
                        <a:rPr lang="en-US" sz="1400" dirty="0">
                          <a:solidFill>
                            <a:schemeClr val="tx1"/>
                          </a:solidFill>
                        </a:rPr>
                        <a:t>87%</a:t>
                      </a:r>
                      <a:endParaRPr lang="en-US" sz="1400" dirty="0"/>
                    </a:p>
                  </a:txBody>
                  <a:tcPr marL="54864" marR="54864" marT="54864" marB="54864">
                    <a:lnL w="6350" cap="flat" cmpd="sng" algn="ctr">
                      <a:solidFill>
                        <a:srgbClr val="D7DBE2"/>
                      </a:solidFill>
                      <a:prstDash val="solid"/>
                      <a:round/>
                      <a:headEnd type="none" w="med" len="med"/>
                      <a:tailEnd type="none" w="med" len="med"/>
                    </a:lnL>
                    <a:lnR w="6350" cap="flat" cmpd="sng" algn="ctr">
                      <a:solidFill>
                        <a:srgbClr val="D7DBE2"/>
                      </a:solidFill>
                      <a:prstDash val="solid"/>
                      <a:round/>
                      <a:headEnd type="none" w="med" len="med"/>
                      <a:tailEnd type="none" w="med" len="med"/>
                    </a:lnR>
                    <a:lnT w="6350" cap="flat" cmpd="sng" algn="ctr">
                      <a:solidFill>
                        <a:srgbClr val="D7DBE2"/>
                      </a:solidFill>
                      <a:prstDash val="solid"/>
                      <a:round/>
                      <a:headEnd type="none" w="med" len="med"/>
                      <a:tailEnd type="none" w="med" len="med"/>
                    </a:lnT>
                    <a:lnB w="6350" cap="flat" cmpd="sng" algn="ctr">
                      <a:solidFill>
                        <a:srgbClr val="D7DBE2"/>
                      </a:solidFill>
                      <a:prstDash val="solid"/>
                      <a:round/>
                      <a:headEnd type="none" w="med" len="med"/>
                      <a:tailEnd type="none" w="med" len="med"/>
                    </a:lnB>
                  </a:tcPr>
                </a:tc>
                <a:tc>
                  <a:txBody>
                    <a:bodyPr/>
                    <a:lstStyle/>
                    <a:p>
                      <a:pPr algn="l" indent="0" marL="0">
                        <a:buNone/>
                      </a:pPr>
                      <a:r>
                        <a:rPr lang="en-US" sz="1400" dirty="0">
                          <a:solidFill>
                            <a:schemeClr val="tx1"/>
                          </a:solidFill>
                        </a:rPr>
                        <a:t>22 min</a:t>
                      </a:r>
                      <a:endParaRPr lang="en-US" sz="1400" dirty="0"/>
                    </a:p>
                  </a:txBody>
                  <a:tcPr marL="54864" marR="54864" marT="54864" marB="54864">
                    <a:lnL w="6350" cap="flat" cmpd="sng" algn="ctr">
                      <a:solidFill>
                        <a:srgbClr val="D7DBE2"/>
                      </a:solidFill>
                      <a:prstDash val="solid"/>
                      <a:round/>
                      <a:headEnd type="none" w="med" len="med"/>
                      <a:tailEnd type="none" w="med" len="med"/>
                    </a:lnL>
                    <a:lnR w="6350" cap="flat" cmpd="sng" algn="ctr">
                      <a:solidFill>
                        <a:srgbClr val="D7DBE2"/>
                      </a:solidFill>
                      <a:prstDash val="solid"/>
                      <a:round/>
                      <a:headEnd type="none" w="med" len="med"/>
                      <a:tailEnd type="none" w="med" len="med"/>
                    </a:lnR>
                    <a:lnT w="6350" cap="flat" cmpd="sng" algn="ctr">
                      <a:solidFill>
                        <a:srgbClr val="D7DBE2"/>
                      </a:solidFill>
                      <a:prstDash val="solid"/>
                      <a:round/>
                      <a:headEnd type="none" w="med" len="med"/>
                      <a:tailEnd type="none" w="med" len="med"/>
                    </a:lnT>
                    <a:lnB w="6350" cap="flat" cmpd="sng" algn="ctr">
                      <a:solidFill>
                        <a:srgbClr val="D7DBE2"/>
                      </a:solidFill>
                      <a:prstDash val="solid"/>
                      <a:round/>
                      <a:headEnd type="none" w="med" len="med"/>
                      <a:tailEnd type="none" w="med" len="med"/>
                    </a:lnB>
                  </a:tcPr>
                </a:tc>
              </a:tr>
              <a:tr h="411480">
                <a:tc>
                  <a:txBody>
                    <a:bodyPr/>
                    <a:lstStyle/>
                    <a:p>
                      <a:pPr algn="l" indent="0" marL="0">
                        <a:buNone/>
                      </a:pPr>
                      <a:r>
                        <a:rPr lang="en-US" sz="1400" dirty="0">
                          <a:solidFill>
                            <a:schemeClr val="tx1"/>
                          </a:solidFill>
                        </a:rPr>
                        <a:t>3, carts of 4</a:t>
                      </a:r>
                      <a:endParaRPr lang="en-US" sz="1400" dirty="0"/>
                    </a:p>
                  </a:txBody>
                  <a:tcPr marL="54864" marR="54864" marT="54864" marB="54864">
                    <a:lnL w="6350" cap="flat" cmpd="sng" algn="ctr">
                      <a:solidFill>
                        <a:srgbClr val="D7DBE2"/>
                      </a:solidFill>
                      <a:prstDash val="solid"/>
                      <a:round/>
                      <a:headEnd type="none" w="med" len="med"/>
                      <a:tailEnd type="none" w="med" len="med"/>
                    </a:lnL>
                    <a:lnR w="6350" cap="flat" cmpd="sng" algn="ctr">
                      <a:solidFill>
                        <a:srgbClr val="D7DBE2"/>
                      </a:solidFill>
                      <a:prstDash val="solid"/>
                      <a:round/>
                      <a:headEnd type="none" w="med" len="med"/>
                      <a:tailEnd type="none" w="med" len="med"/>
                    </a:lnR>
                    <a:lnT w="6350" cap="flat" cmpd="sng" algn="ctr">
                      <a:solidFill>
                        <a:srgbClr val="D7DBE2"/>
                      </a:solidFill>
                      <a:prstDash val="solid"/>
                      <a:round/>
                      <a:headEnd type="none" w="med" len="med"/>
                      <a:tailEnd type="none" w="med" len="med"/>
                    </a:lnT>
                    <a:lnB w="6350" cap="flat" cmpd="sng" algn="ctr">
                      <a:solidFill>
                        <a:srgbClr val="D7DBE2"/>
                      </a:solidFill>
                      <a:prstDash val="solid"/>
                      <a:round/>
                      <a:headEnd type="none" w="med" len="med"/>
                      <a:tailEnd type="none" w="med" len="med"/>
                    </a:lnB>
                  </a:tcPr>
                </a:tc>
                <a:tc>
                  <a:txBody>
                    <a:bodyPr/>
                    <a:lstStyle/>
                    <a:p>
                      <a:pPr algn="l" indent="0" marL="0">
                        <a:buNone/>
                      </a:pPr>
                      <a:r>
                        <a:rPr lang="en-US" sz="1400" dirty="0">
                          <a:solidFill>
                            <a:schemeClr val="tx1"/>
                          </a:solidFill>
                        </a:rPr>
                        <a:t>90%</a:t>
                      </a:r>
                      <a:endParaRPr lang="en-US" sz="1400" dirty="0"/>
                    </a:p>
                  </a:txBody>
                  <a:tcPr marL="54864" marR="54864" marT="54864" marB="54864">
                    <a:lnL w="6350" cap="flat" cmpd="sng" algn="ctr">
                      <a:solidFill>
                        <a:srgbClr val="D7DBE2"/>
                      </a:solidFill>
                      <a:prstDash val="solid"/>
                      <a:round/>
                      <a:headEnd type="none" w="med" len="med"/>
                      <a:tailEnd type="none" w="med" len="med"/>
                    </a:lnL>
                    <a:lnR w="6350" cap="flat" cmpd="sng" algn="ctr">
                      <a:solidFill>
                        <a:srgbClr val="D7DBE2"/>
                      </a:solidFill>
                      <a:prstDash val="solid"/>
                      <a:round/>
                      <a:headEnd type="none" w="med" len="med"/>
                      <a:tailEnd type="none" w="med" len="med"/>
                    </a:lnR>
                    <a:lnT w="6350" cap="flat" cmpd="sng" algn="ctr">
                      <a:solidFill>
                        <a:srgbClr val="D7DBE2"/>
                      </a:solidFill>
                      <a:prstDash val="solid"/>
                      <a:round/>
                      <a:headEnd type="none" w="med" len="med"/>
                      <a:tailEnd type="none" w="med" len="med"/>
                    </a:lnT>
                    <a:lnB w="6350" cap="flat" cmpd="sng" algn="ctr">
                      <a:solidFill>
                        <a:srgbClr val="D7DBE2"/>
                      </a:solidFill>
                      <a:prstDash val="solid"/>
                      <a:round/>
                      <a:headEnd type="none" w="med" len="med"/>
                      <a:tailEnd type="none" w="med" len="med"/>
                    </a:lnB>
                  </a:tcPr>
                </a:tc>
                <a:tc>
                  <a:txBody>
                    <a:bodyPr/>
                    <a:lstStyle/>
                    <a:p>
                      <a:pPr algn="l" indent="0" marL="0">
                        <a:buNone/>
                      </a:pPr>
                      <a:r>
                        <a:rPr lang="en-US" sz="1400" dirty="0">
                          <a:solidFill>
                            <a:schemeClr val="tx1"/>
                          </a:solidFill>
                        </a:rPr>
                        <a:t>91%</a:t>
                      </a:r>
                      <a:endParaRPr lang="en-US" sz="1400" dirty="0"/>
                    </a:p>
                  </a:txBody>
                  <a:tcPr marL="54864" marR="54864" marT="54864" marB="54864">
                    <a:lnL w="6350" cap="flat" cmpd="sng" algn="ctr">
                      <a:solidFill>
                        <a:srgbClr val="D7DBE2"/>
                      </a:solidFill>
                      <a:prstDash val="solid"/>
                      <a:round/>
                      <a:headEnd type="none" w="med" len="med"/>
                      <a:tailEnd type="none" w="med" len="med"/>
                    </a:lnL>
                    <a:lnR w="6350" cap="flat" cmpd="sng" algn="ctr">
                      <a:solidFill>
                        <a:srgbClr val="D7DBE2"/>
                      </a:solidFill>
                      <a:prstDash val="solid"/>
                      <a:round/>
                      <a:headEnd type="none" w="med" len="med"/>
                      <a:tailEnd type="none" w="med" len="med"/>
                    </a:lnR>
                    <a:lnT w="6350" cap="flat" cmpd="sng" algn="ctr">
                      <a:solidFill>
                        <a:srgbClr val="D7DBE2"/>
                      </a:solidFill>
                      <a:prstDash val="solid"/>
                      <a:round/>
                      <a:headEnd type="none" w="med" len="med"/>
                      <a:tailEnd type="none" w="med" len="med"/>
                    </a:lnT>
                    <a:lnB w="6350" cap="flat" cmpd="sng" algn="ctr">
                      <a:solidFill>
                        <a:srgbClr val="D7DBE2"/>
                      </a:solidFill>
                      <a:prstDash val="solid"/>
                      <a:round/>
                      <a:headEnd type="none" w="med" len="med"/>
                      <a:tailEnd type="none" w="med" len="med"/>
                    </a:lnB>
                  </a:tcPr>
                </a:tc>
                <a:tc>
                  <a:txBody>
                    <a:bodyPr/>
                    <a:lstStyle/>
                    <a:p>
                      <a:pPr algn="l" indent="0" marL="0">
                        <a:buNone/>
                      </a:pPr>
                      <a:r>
                        <a:rPr lang="en-US" sz="1400" dirty="0">
                          <a:solidFill>
                            <a:schemeClr val="tx1"/>
                          </a:solidFill>
                        </a:rPr>
                        <a:t>9 min</a:t>
                      </a:r>
                      <a:endParaRPr lang="en-US" sz="1400" dirty="0"/>
                    </a:p>
                  </a:txBody>
                  <a:tcPr marL="54864" marR="54864" marT="54864" marB="54864">
                    <a:lnL w="6350" cap="flat" cmpd="sng" algn="ctr">
                      <a:solidFill>
                        <a:srgbClr val="D7DBE2"/>
                      </a:solidFill>
                      <a:prstDash val="solid"/>
                      <a:round/>
                      <a:headEnd type="none" w="med" len="med"/>
                      <a:tailEnd type="none" w="med" len="med"/>
                    </a:lnL>
                    <a:lnR w="6350" cap="flat" cmpd="sng" algn="ctr">
                      <a:solidFill>
                        <a:srgbClr val="D7DBE2"/>
                      </a:solidFill>
                      <a:prstDash val="solid"/>
                      <a:round/>
                      <a:headEnd type="none" w="med" len="med"/>
                      <a:tailEnd type="none" w="med" len="med"/>
                    </a:lnR>
                    <a:lnT w="6350" cap="flat" cmpd="sng" algn="ctr">
                      <a:solidFill>
                        <a:srgbClr val="D7DBE2"/>
                      </a:solidFill>
                      <a:prstDash val="solid"/>
                      <a:round/>
                      <a:headEnd type="none" w="med" len="med"/>
                      <a:tailEnd type="none" w="med" len="med"/>
                    </a:lnT>
                    <a:lnB w="6350" cap="flat" cmpd="sng" algn="ctr">
                      <a:solidFill>
                        <a:srgbClr val="D7DBE2"/>
                      </a:solidFill>
                      <a:prstDash val="solid"/>
                      <a:round/>
                      <a:headEnd type="none" w="med" len="med"/>
                      <a:tailEnd type="none" w="med" len="med"/>
                    </a:lnB>
                  </a:tcPr>
                </a:tc>
              </a:tr>
              <a:tr h="411480">
                <a:tc>
                  <a:txBody>
                    <a:bodyPr/>
                    <a:lstStyle/>
                    <a:p>
                      <a:pPr algn="l" indent="0" marL="0">
                        <a:buNone/>
                      </a:pPr>
                      <a:r>
                        <a:rPr lang="en-US" sz="1400" dirty="0">
                          <a:solidFill>
                            <a:schemeClr val="tx1"/>
                          </a:solidFill>
                        </a:rPr>
                        <a:t>4, single orders</a:t>
                      </a:r>
                      <a:endParaRPr lang="en-US" sz="1400" dirty="0"/>
                    </a:p>
                  </a:txBody>
                  <a:tcPr marL="54864" marR="54864" marT="54864" marB="54864">
                    <a:lnL w="6350" cap="flat" cmpd="sng" algn="ctr">
                      <a:solidFill>
                        <a:srgbClr val="D7DBE2"/>
                      </a:solidFill>
                      <a:prstDash val="solid"/>
                      <a:round/>
                      <a:headEnd type="none" w="med" len="med"/>
                      <a:tailEnd type="none" w="med" len="med"/>
                    </a:lnL>
                    <a:lnR w="6350" cap="flat" cmpd="sng" algn="ctr">
                      <a:solidFill>
                        <a:srgbClr val="D7DBE2"/>
                      </a:solidFill>
                      <a:prstDash val="solid"/>
                      <a:round/>
                      <a:headEnd type="none" w="med" len="med"/>
                      <a:tailEnd type="none" w="med" len="med"/>
                    </a:lnR>
                    <a:lnT w="6350" cap="flat" cmpd="sng" algn="ctr">
                      <a:solidFill>
                        <a:srgbClr val="D7DBE2"/>
                      </a:solidFill>
                      <a:prstDash val="solid"/>
                      <a:round/>
                      <a:headEnd type="none" w="med" len="med"/>
                      <a:tailEnd type="none" w="med" len="med"/>
                    </a:lnT>
                    <a:lnB w="6350" cap="flat" cmpd="sng" algn="ctr">
                      <a:solidFill>
                        <a:srgbClr val="D7DBE2"/>
                      </a:solidFill>
                      <a:prstDash val="solid"/>
                      <a:round/>
                      <a:headEnd type="none" w="med" len="med"/>
                      <a:tailEnd type="none" w="med" len="med"/>
                    </a:lnB>
                  </a:tcPr>
                </a:tc>
                <a:tc>
                  <a:txBody>
                    <a:bodyPr/>
                    <a:lstStyle/>
                    <a:p>
                      <a:pPr algn="l" indent="0" marL="0">
                        <a:buNone/>
                      </a:pPr>
                      <a:r>
                        <a:rPr lang="en-US" sz="1400" dirty="0">
                          <a:solidFill>
                            <a:schemeClr val="tx1"/>
                          </a:solidFill>
                        </a:rPr>
                        <a:t>99%</a:t>
                      </a:r>
                      <a:endParaRPr lang="en-US" sz="1400" dirty="0"/>
                    </a:p>
                  </a:txBody>
                  <a:tcPr marL="54864" marR="54864" marT="54864" marB="54864">
                    <a:lnL w="6350" cap="flat" cmpd="sng" algn="ctr">
                      <a:solidFill>
                        <a:srgbClr val="D7DBE2"/>
                      </a:solidFill>
                      <a:prstDash val="solid"/>
                      <a:round/>
                      <a:headEnd type="none" w="med" len="med"/>
                      <a:tailEnd type="none" w="med" len="med"/>
                    </a:lnL>
                    <a:lnR w="6350" cap="flat" cmpd="sng" algn="ctr">
                      <a:solidFill>
                        <a:srgbClr val="D7DBE2"/>
                      </a:solidFill>
                      <a:prstDash val="solid"/>
                      <a:round/>
                      <a:headEnd type="none" w="med" len="med"/>
                      <a:tailEnd type="none" w="med" len="med"/>
                    </a:lnR>
                    <a:lnT w="6350" cap="flat" cmpd="sng" algn="ctr">
                      <a:solidFill>
                        <a:srgbClr val="D7DBE2"/>
                      </a:solidFill>
                      <a:prstDash val="solid"/>
                      <a:round/>
                      <a:headEnd type="none" w="med" len="med"/>
                      <a:tailEnd type="none" w="med" len="med"/>
                    </a:lnT>
                    <a:lnB w="6350" cap="flat" cmpd="sng" algn="ctr">
                      <a:solidFill>
                        <a:srgbClr val="D7DBE2"/>
                      </a:solidFill>
                      <a:prstDash val="solid"/>
                      <a:round/>
                      <a:headEnd type="none" w="med" len="med"/>
                      <a:tailEnd type="none" w="med" len="med"/>
                    </a:lnB>
                  </a:tcPr>
                </a:tc>
                <a:tc>
                  <a:txBody>
                    <a:bodyPr/>
                    <a:lstStyle/>
                    <a:p>
                      <a:pPr algn="l" indent="0" marL="0">
                        <a:buNone/>
                      </a:pPr>
                      <a:r>
                        <a:rPr lang="en-US" sz="1400" dirty="0">
                          <a:solidFill>
                            <a:schemeClr val="tx1"/>
                          </a:solidFill>
                        </a:rPr>
                        <a:t>99%</a:t>
                      </a:r>
                      <a:endParaRPr lang="en-US" sz="1400" dirty="0"/>
                    </a:p>
                  </a:txBody>
                  <a:tcPr marL="54864" marR="54864" marT="54864" marB="54864">
                    <a:lnL w="6350" cap="flat" cmpd="sng" algn="ctr">
                      <a:solidFill>
                        <a:srgbClr val="D7DBE2"/>
                      </a:solidFill>
                      <a:prstDash val="solid"/>
                      <a:round/>
                      <a:headEnd type="none" w="med" len="med"/>
                      <a:tailEnd type="none" w="med" len="med"/>
                    </a:lnL>
                    <a:lnR w="6350" cap="flat" cmpd="sng" algn="ctr">
                      <a:solidFill>
                        <a:srgbClr val="D7DBE2"/>
                      </a:solidFill>
                      <a:prstDash val="solid"/>
                      <a:round/>
                      <a:headEnd type="none" w="med" len="med"/>
                      <a:tailEnd type="none" w="med" len="med"/>
                    </a:lnR>
                    <a:lnT w="6350" cap="flat" cmpd="sng" algn="ctr">
                      <a:solidFill>
                        <a:srgbClr val="D7DBE2"/>
                      </a:solidFill>
                      <a:prstDash val="solid"/>
                      <a:round/>
                      <a:headEnd type="none" w="med" len="med"/>
                      <a:tailEnd type="none" w="med" len="med"/>
                    </a:lnT>
                    <a:lnB w="6350" cap="flat" cmpd="sng" algn="ctr">
                      <a:solidFill>
                        <a:srgbClr val="D7DBE2"/>
                      </a:solidFill>
                      <a:prstDash val="solid"/>
                      <a:round/>
                      <a:headEnd type="none" w="med" len="med"/>
                      <a:tailEnd type="none" w="med" len="med"/>
                    </a:lnB>
                  </a:tcPr>
                </a:tc>
                <a:tc>
                  <a:txBody>
                    <a:bodyPr/>
                    <a:lstStyle/>
                    <a:p>
                      <a:pPr algn="l" indent="0" marL="0">
                        <a:buNone/>
                      </a:pPr>
                      <a:r>
                        <a:rPr lang="en-US" sz="1400" dirty="0">
                          <a:solidFill>
                            <a:schemeClr val="tx1"/>
                          </a:solidFill>
                        </a:rPr>
                        <a:t>34 min</a:t>
                      </a:r>
                      <a:endParaRPr lang="en-US" sz="1400" dirty="0"/>
                    </a:p>
                  </a:txBody>
                  <a:tcPr marL="54864" marR="54864" marT="54864" marB="54864">
                    <a:lnL w="6350" cap="flat" cmpd="sng" algn="ctr">
                      <a:solidFill>
                        <a:srgbClr val="D7DBE2"/>
                      </a:solidFill>
                      <a:prstDash val="solid"/>
                      <a:round/>
                      <a:headEnd type="none" w="med" len="med"/>
                      <a:tailEnd type="none" w="med" len="med"/>
                    </a:lnL>
                    <a:lnR w="6350" cap="flat" cmpd="sng" algn="ctr">
                      <a:solidFill>
                        <a:srgbClr val="D7DBE2"/>
                      </a:solidFill>
                      <a:prstDash val="solid"/>
                      <a:round/>
                      <a:headEnd type="none" w="med" len="med"/>
                      <a:tailEnd type="none" w="med" len="med"/>
                    </a:lnR>
                    <a:lnT w="6350" cap="flat" cmpd="sng" algn="ctr">
                      <a:solidFill>
                        <a:srgbClr val="D7DBE2"/>
                      </a:solidFill>
                      <a:prstDash val="solid"/>
                      <a:round/>
                      <a:headEnd type="none" w="med" len="med"/>
                      <a:tailEnd type="none" w="med" len="med"/>
                    </a:lnT>
                    <a:lnB w="6350" cap="flat" cmpd="sng" algn="ctr">
                      <a:solidFill>
                        <a:srgbClr val="D7DBE2"/>
                      </a:solidFill>
                      <a:prstDash val="solid"/>
                      <a:round/>
                      <a:headEnd type="none" w="med" len="med"/>
                      <a:tailEnd type="none" w="med" len="med"/>
                    </a:lnB>
                  </a:tcPr>
                </a:tc>
              </a:tr>
            </a:tbl>
          </a:graphicData>
        </a:graphic>
      </p:graphicFrame>
      <p:sp>
        <p:nvSpPr>
          <p:cNvPr id="5" name="Text 1"/>
          <p:cNvSpPr txBox="1"/>
          <p:nvPr/>
        </p:nvSpPr>
        <p:spPr>
          <a:xfrm>
            <a:off x="548640" y="3886200"/>
            <a:ext cx="4617720" cy="822960"/>
          </a:xfrm>
          <a:prstGeom prst="rect">
            <a:avLst/>
          </a:prstGeom>
          <a:noFill/>
          <a:ln/>
        </p:spPr>
        <p:txBody>
          <a:bodyPr wrap="square" lIns="0" tIns="0" rIns="0" bIns="0" rtlCol="0" anchor="t"/>
          <a:lstStyle/>
          <a:p>
            <a:pPr indent="0" marL="0">
              <a:buNone/>
            </a:pPr>
            <a:r>
              <a:rPr lang="en-US" sz="1400" dirty="0">
                <a:solidFill>
                  <a:schemeClr val="tx2"/>
                </a:solidFill>
              </a:rPr>
              <a:t>Orders shipped on time, and minutes lost to congestion (Baseline). Peak ×3: 329 real orders from the three busiest test-week days, at their real times, 17:00 cut-off.</a:t>
            </a:r>
            <a:endParaRPr lang="en-US" sz="1400" dirty="0"/>
          </a:p>
        </p:txBody>
      </p:sp>
      <p:sp>
        <p:nvSpPr>
          <p:cNvPr id="6" name="Text 2"/>
          <p:cNvSpPr txBox="1"/>
          <p:nvPr/>
        </p:nvSpPr>
        <p:spPr>
          <a:xfrm>
            <a:off x="548640" y="4892040"/>
            <a:ext cx="4617720" cy="1005840"/>
          </a:xfrm>
          <a:prstGeom prst="rect">
            <a:avLst/>
          </a:prstGeom>
          <a:noFill/>
          <a:ln/>
        </p:spPr>
        <p:txBody>
          <a:bodyPr wrap="square" lIns="0" tIns="0" rIns="0" bIns="0" rtlCol="0" anchor="t"/>
          <a:lstStyle/>
          <a:p>
            <a:pPr indent="0" marL="0">
              <a:buNone/>
            </a:pPr>
            <a:r>
              <a:rPr lang="en-US" sz="1500" i="1" dirty="0">
                <a:solidFill>
                  <a:schemeClr val="tx1"/>
                </a:solidFill>
              </a:rPr>
              <a:t>More pickers ship more, but they start meeting in the aisles. Carts cut both trips and congestion: 3 pickers with carts beat 3 without.</a:t>
            </a:r>
            <a:endParaRPr lang="en-US" sz="1500" dirty="0"/>
          </a:p>
        </p:txBody>
      </p:sp>
      <p:sp>
        <p:nvSpPr>
          <p:cNvPr id="25" name="Slide Number Placeholder 0"/>
          <p:cNvSpPr>
            <a:spLocks noGrp="1"/>
          </p:cNvSpPr>
          <p:nvPr>
            <p:ph type="sldNum" sz="quarter" idx="4294967295"/>
          </p:nvPr>
        </p:nvSpPr>
        <p:spPr>
          <a:xfrm>
            <a:off x="1109441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548640" y="411480"/>
            <a:ext cx="11094415" cy="731520"/>
          </a:xfrm>
          <a:prstGeom prst="rect">
            <a:avLst/>
          </a:prstGeom>
          <a:noFill/>
          <a:ln/>
        </p:spPr>
        <p:txBody>
          <a:bodyPr wrap="square" lIns="0" tIns="0" rIns="0" bIns="0" rtlCol="0" anchor="ctr"/>
          <a:lstStyle/>
          <a:p>
            <a:pPr algn="l" indent="0" marL="0">
              <a:buNone/>
            </a:pPr>
            <a:r>
              <a:rPr lang="en-US" sz="2800" b="1" dirty="0">
                <a:solidFill>
                  <a:schemeClr val="tx1"/>
                </a:solidFill>
              </a:rPr>
              <a:t>Built like a real warehouse</a:t>
            </a:r>
            <a:endParaRPr lang="en-US" sz="2800" dirty="0"/>
          </a:p>
        </p:txBody>
      </p:sp>
      <p:sp>
        <p:nvSpPr>
          <p:cNvPr id="3" name="Card"/>
          <p:cNvSpPr/>
          <p:nvPr/>
        </p:nvSpPr>
        <p:spPr>
          <a:xfrm>
            <a:off x="548640" y="1463040"/>
            <a:ext cx="5394960" cy="2057400"/>
          </a:xfrm>
          <a:prstGeom prst="roundRect">
            <a:avLst>
              <a:gd name="adj" fmla="val 3556"/>
            </a:avLst>
          </a:prstGeom>
          <a:solidFill>
            <a:schemeClr val="bg2"/>
          </a:solidFill>
          <a:ln w="12700">
            <a:solidFill>
              <a:schemeClr val="bg2"/>
            </a:solidFill>
            <a:prstDash val="solid"/>
          </a:ln>
        </p:spPr>
      </p:sp>
      <p:sp>
        <p:nvSpPr>
          <p:cNvPr id="4" name="Badge"/>
          <p:cNvSpPr/>
          <p:nvPr/>
        </p:nvSpPr>
        <p:spPr>
          <a:xfrm>
            <a:off x="822960" y="1737360"/>
            <a:ext cx="548640" cy="548640"/>
          </a:xfrm>
          <a:prstGeom prst="ellipse">
            <a:avLst/>
          </a:prstGeom>
          <a:solidFill>
            <a:schemeClr val="accent1"/>
          </a:solidFill>
          <a:ln w="12700">
            <a:solidFill>
              <a:schemeClr val="accent1"/>
            </a:solidFill>
            <a:prstDash val="solid"/>
          </a:ln>
        </p:spPr>
      </p:sp>
      <p:pic>
        <p:nvPicPr>
          <p:cNvPr id="5" name="Badge icon" descr="preencoded.png">    </p:cNvPr>
          <p:cNvPicPr>
            <a:picLocks noChangeAspect="1"/>
          </p:cNvPicPr>
          <p:nvPr/>
        </p:nvPicPr>
        <p:blipFill>
          <a:blip r:embed="rId1"/>
          <a:stretch>
            <a:fillRect/>
          </a:stretch>
        </p:blipFill>
        <p:spPr>
          <a:xfrm>
            <a:off x="954634" y="1869034"/>
            <a:ext cx="285293" cy="285293"/>
          </a:xfrm>
          <a:prstGeom prst="rect">
            <a:avLst/>
          </a:prstGeom>
        </p:spPr>
      </p:pic>
      <p:sp>
        <p:nvSpPr>
          <p:cNvPr id="6" name="Text 3"/>
          <p:cNvSpPr txBox="1"/>
          <p:nvPr/>
        </p:nvSpPr>
        <p:spPr>
          <a:xfrm>
            <a:off x="1554480" y="1737360"/>
            <a:ext cx="4160520" cy="502920"/>
          </a:xfrm>
          <a:prstGeom prst="rect">
            <a:avLst/>
          </a:prstGeom>
          <a:noFill/>
          <a:ln/>
        </p:spPr>
        <p:txBody>
          <a:bodyPr wrap="square" lIns="0" tIns="0" rIns="0" bIns="0" rtlCol="0" anchor="ctr"/>
          <a:lstStyle/>
          <a:p>
            <a:pPr indent="0" marL="0">
              <a:buNone/>
            </a:pPr>
            <a:r>
              <a:rPr lang="en-US" sz="1900" b="1" dirty="0">
                <a:solidFill>
                  <a:schemeClr val="tx1"/>
                </a:solidFill>
              </a:rPr>
              <a:t>ABC classes</a:t>
            </a:r>
            <a:endParaRPr lang="en-US" sz="1900" dirty="0"/>
          </a:p>
        </p:txBody>
      </p:sp>
      <p:sp>
        <p:nvSpPr>
          <p:cNvPr id="7" name="Text 4"/>
          <p:cNvSpPr txBox="1"/>
          <p:nvPr/>
        </p:nvSpPr>
        <p:spPr>
          <a:xfrm>
            <a:off x="1554480" y="2286000"/>
            <a:ext cx="4160520" cy="1051560"/>
          </a:xfrm>
          <a:prstGeom prst="rect">
            <a:avLst/>
          </a:prstGeom>
          <a:noFill/>
          <a:ln/>
        </p:spPr>
        <p:txBody>
          <a:bodyPr wrap="square" lIns="0" tIns="0" rIns="0" bIns="0" rtlCol="0" anchor="t"/>
          <a:lstStyle/>
          <a:p>
            <a:pPr indent="0" marL="0">
              <a:buNone/>
            </a:pPr>
            <a:r>
              <a:rPr lang="en-US" sz="1500" dirty="0">
                <a:solidFill>
                  <a:schemeClr val="tx2"/>
                </a:solidFill>
              </a:rPr>
              <a:t>Frequency drives the zones; cost class A/B/C shows why arranging by value would push cheap fast movers away.</a:t>
            </a:r>
            <a:endParaRPr lang="en-US" sz="1500" dirty="0"/>
          </a:p>
        </p:txBody>
      </p:sp>
      <p:sp>
        <p:nvSpPr>
          <p:cNvPr id="8" name="Card"/>
          <p:cNvSpPr/>
          <p:nvPr/>
        </p:nvSpPr>
        <p:spPr>
          <a:xfrm>
            <a:off x="6172200" y="1463040"/>
            <a:ext cx="5394960" cy="2057400"/>
          </a:xfrm>
          <a:prstGeom prst="roundRect">
            <a:avLst>
              <a:gd name="adj" fmla="val 3556"/>
            </a:avLst>
          </a:prstGeom>
          <a:solidFill>
            <a:schemeClr val="bg2"/>
          </a:solidFill>
          <a:ln w="12700">
            <a:solidFill>
              <a:schemeClr val="bg2"/>
            </a:solidFill>
            <a:prstDash val="solid"/>
          </a:ln>
        </p:spPr>
      </p:sp>
      <p:sp>
        <p:nvSpPr>
          <p:cNvPr id="9" name="Badge"/>
          <p:cNvSpPr/>
          <p:nvPr/>
        </p:nvSpPr>
        <p:spPr>
          <a:xfrm>
            <a:off x="6446520" y="1737360"/>
            <a:ext cx="548640" cy="548640"/>
          </a:xfrm>
          <a:prstGeom prst="ellipse">
            <a:avLst/>
          </a:prstGeom>
          <a:solidFill>
            <a:schemeClr val="accent1"/>
          </a:solidFill>
          <a:ln w="12700">
            <a:solidFill>
              <a:schemeClr val="accent1"/>
            </a:solidFill>
            <a:prstDash val="solid"/>
          </a:ln>
        </p:spPr>
      </p:sp>
      <p:pic>
        <p:nvPicPr>
          <p:cNvPr id="10" name="Badge icon" descr="preencoded.png">    </p:cNvPr>
          <p:cNvPicPr>
            <a:picLocks noChangeAspect="1"/>
          </p:cNvPicPr>
          <p:nvPr/>
        </p:nvPicPr>
        <p:blipFill>
          <a:blip r:embed="rId2"/>
          <a:stretch>
            <a:fillRect/>
          </a:stretch>
        </p:blipFill>
        <p:spPr>
          <a:xfrm>
            <a:off x="6578194" y="1869034"/>
            <a:ext cx="285293" cy="285293"/>
          </a:xfrm>
          <a:prstGeom prst="rect">
            <a:avLst/>
          </a:prstGeom>
        </p:spPr>
      </p:pic>
      <p:sp>
        <p:nvSpPr>
          <p:cNvPr id="11" name="Text 7"/>
          <p:cNvSpPr txBox="1"/>
          <p:nvPr/>
        </p:nvSpPr>
        <p:spPr>
          <a:xfrm>
            <a:off x="7178040" y="1737360"/>
            <a:ext cx="4160520" cy="502920"/>
          </a:xfrm>
          <a:prstGeom prst="rect">
            <a:avLst/>
          </a:prstGeom>
          <a:noFill/>
          <a:ln/>
        </p:spPr>
        <p:txBody>
          <a:bodyPr wrap="square" lIns="0" tIns="0" rIns="0" bIns="0" rtlCol="0" anchor="ctr"/>
          <a:lstStyle/>
          <a:p>
            <a:pPr indent="0" marL="0">
              <a:buNone/>
            </a:pPr>
            <a:r>
              <a:rPr lang="en-US" sz="1900" b="1" dirty="0">
                <a:solidFill>
                  <a:schemeClr val="tx1"/>
                </a:solidFill>
              </a:rPr>
              <a:t>Handling levels FL0–7</a:t>
            </a:r>
            <a:endParaRPr lang="en-US" sz="1900" dirty="0"/>
          </a:p>
        </p:txBody>
      </p:sp>
      <p:sp>
        <p:nvSpPr>
          <p:cNvPr id="12" name="Text 8"/>
          <p:cNvSpPr txBox="1"/>
          <p:nvPr/>
        </p:nvSpPr>
        <p:spPr>
          <a:xfrm>
            <a:off x="7178040" y="2286000"/>
            <a:ext cx="4160520" cy="1051560"/>
          </a:xfrm>
          <a:prstGeom prst="rect">
            <a:avLst/>
          </a:prstGeom>
          <a:noFill/>
          <a:ln/>
        </p:spPr>
        <p:txBody>
          <a:bodyPr wrap="square" lIns="0" tIns="0" rIns="0" bIns="0" rtlCol="0" anchor="t"/>
          <a:lstStyle/>
          <a:p>
            <a:pPr indent="0" marL="0">
              <a:buNone/>
            </a:pPr>
            <a:r>
              <a:rPr lang="en-US" sz="1500" dirty="0">
                <a:solidFill>
                  <a:schemeClr val="tx2"/>
                </a:solidFill>
              </a:rPr>
              <a:t>From real units per order line; forklift items lose time the deeper they sit in an aisle.</a:t>
            </a:r>
            <a:endParaRPr lang="en-US" sz="1500" dirty="0"/>
          </a:p>
        </p:txBody>
      </p:sp>
      <p:sp>
        <p:nvSpPr>
          <p:cNvPr id="13" name="Card"/>
          <p:cNvSpPr/>
          <p:nvPr/>
        </p:nvSpPr>
        <p:spPr>
          <a:xfrm>
            <a:off x="548640" y="3749040"/>
            <a:ext cx="5394960" cy="2057400"/>
          </a:xfrm>
          <a:prstGeom prst="roundRect">
            <a:avLst>
              <a:gd name="adj" fmla="val 3556"/>
            </a:avLst>
          </a:prstGeom>
          <a:solidFill>
            <a:schemeClr val="bg2"/>
          </a:solidFill>
          <a:ln w="12700">
            <a:solidFill>
              <a:schemeClr val="bg2"/>
            </a:solidFill>
            <a:prstDash val="solid"/>
          </a:ln>
        </p:spPr>
      </p:sp>
      <p:sp>
        <p:nvSpPr>
          <p:cNvPr id="14" name="Badge"/>
          <p:cNvSpPr/>
          <p:nvPr/>
        </p:nvSpPr>
        <p:spPr>
          <a:xfrm>
            <a:off x="822960" y="4023360"/>
            <a:ext cx="548640" cy="548640"/>
          </a:xfrm>
          <a:prstGeom prst="ellipse">
            <a:avLst/>
          </a:prstGeom>
          <a:solidFill>
            <a:schemeClr val="accent1"/>
          </a:solidFill>
          <a:ln w="12700">
            <a:solidFill>
              <a:schemeClr val="accent1"/>
            </a:solidFill>
            <a:prstDash val="solid"/>
          </a:ln>
        </p:spPr>
      </p:sp>
      <p:pic>
        <p:nvPicPr>
          <p:cNvPr id="15" name="Badge icon" descr="preencoded.png">    </p:cNvPr>
          <p:cNvPicPr>
            <a:picLocks noChangeAspect="1"/>
          </p:cNvPicPr>
          <p:nvPr/>
        </p:nvPicPr>
        <p:blipFill>
          <a:blip r:embed="rId3"/>
          <a:stretch>
            <a:fillRect/>
          </a:stretch>
        </p:blipFill>
        <p:spPr>
          <a:xfrm>
            <a:off x="954634" y="4155034"/>
            <a:ext cx="285293" cy="285293"/>
          </a:xfrm>
          <a:prstGeom prst="rect">
            <a:avLst/>
          </a:prstGeom>
        </p:spPr>
      </p:pic>
      <p:sp>
        <p:nvSpPr>
          <p:cNvPr id="16" name="Text 11"/>
          <p:cNvSpPr txBox="1"/>
          <p:nvPr/>
        </p:nvSpPr>
        <p:spPr>
          <a:xfrm>
            <a:off x="1554480" y="4023360"/>
            <a:ext cx="4160520" cy="502920"/>
          </a:xfrm>
          <a:prstGeom prst="rect">
            <a:avLst/>
          </a:prstGeom>
          <a:noFill/>
          <a:ln/>
        </p:spPr>
        <p:txBody>
          <a:bodyPr wrap="square" lIns="0" tIns="0" rIns="0" bIns="0" rtlCol="0" anchor="ctr"/>
          <a:lstStyle/>
          <a:p>
            <a:pPr indent="0" marL="0">
              <a:buNone/>
            </a:pPr>
            <a:r>
              <a:rPr lang="en-US" sz="1900" b="1" dirty="0">
                <a:solidFill>
                  <a:schemeClr val="tx1"/>
                </a:solidFill>
              </a:rPr>
              <a:t>New products (cold start)</a:t>
            </a:r>
            <a:endParaRPr lang="en-US" sz="1900" dirty="0"/>
          </a:p>
        </p:txBody>
      </p:sp>
      <p:sp>
        <p:nvSpPr>
          <p:cNvPr id="17" name="Text 12"/>
          <p:cNvSpPr txBox="1"/>
          <p:nvPr/>
        </p:nvSpPr>
        <p:spPr>
          <a:xfrm>
            <a:off x="1554480" y="4572000"/>
            <a:ext cx="4160520" cy="1051560"/>
          </a:xfrm>
          <a:prstGeom prst="rect">
            <a:avLst/>
          </a:prstGeom>
          <a:noFill/>
          <a:ln/>
        </p:spPr>
        <p:txBody>
          <a:bodyPr wrap="square" lIns="0" tIns="0" rIns="0" bIns="0" rtlCol="0" anchor="t"/>
          <a:lstStyle/>
          <a:p>
            <a:pPr indent="0" marL="0">
              <a:buNone/>
            </a:pPr>
            <a:r>
              <a:rPr lang="en-US" sz="1500" dirty="0">
                <a:solidFill>
                  <a:schemeClr val="tx2"/>
                </a:solidFill>
              </a:rPr>
              <a:t>A new SKU with no history: look-alikes predict its picks, and every shelf is tested.</a:t>
            </a:r>
            <a:endParaRPr lang="en-US" sz="1500" dirty="0"/>
          </a:p>
        </p:txBody>
      </p:sp>
      <p:sp>
        <p:nvSpPr>
          <p:cNvPr id="18" name="Card"/>
          <p:cNvSpPr/>
          <p:nvPr/>
        </p:nvSpPr>
        <p:spPr>
          <a:xfrm>
            <a:off x="6172200" y="3749040"/>
            <a:ext cx="5394960" cy="2057400"/>
          </a:xfrm>
          <a:prstGeom prst="roundRect">
            <a:avLst>
              <a:gd name="adj" fmla="val 3556"/>
            </a:avLst>
          </a:prstGeom>
          <a:solidFill>
            <a:schemeClr val="bg2"/>
          </a:solidFill>
          <a:ln w="12700">
            <a:solidFill>
              <a:schemeClr val="bg2"/>
            </a:solidFill>
            <a:prstDash val="solid"/>
          </a:ln>
        </p:spPr>
      </p:sp>
      <p:sp>
        <p:nvSpPr>
          <p:cNvPr id="19" name="Badge"/>
          <p:cNvSpPr/>
          <p:nvPr/>
        </p:nvSpPr>
        <p:spPr>
          <a:xfrm>
            <a:off x="6446520" y="4023360"/>
            <a:ext cx="548640" cy="548640"/>
          </a:xfrm>
          <a:prstGeom prst="ellipse">
            <a:avLst/>
          </a:prstGeom>
          <a:solidFill>
            <a:schemeClr val="accent1"/>
          </a:solidFill>
          <a:ln w="12700">
            <a:solidFill>
              <a:schemeClr val="accent1"/>
            </a:solidFill>
            <a:prstDash val="solid"/>
          </a:ln>
        </p:spPr>
      </p:sp>
      <p:pic>
        <p:nvPicPr>
          <p:cNvPr id="20" name="Badge icon" descr="preencoded.png">    </p:cNvPr>
          <p:cNvPicPr>
            <a:picLocks noChangeAspect="1"/>
          </p:cNvPicPr>
          <p:nvPr/>
        </p:nvPicPr>
        <p:blipFill>
          <a:blip r:embed="rId4"/>
          <a:stretch>
            <a:fillRect/>
          </a:stretch>
        </p:blipFill>
        <p:spPr>
          <a:xfrm>
            <a:off x="6578194" y="4155034"/>
            <a:ext cx="285293" cy="285293"/>
          </a:xfrm>
          <a:prstGeom prst="rect">
            <a:avLst/>
          </a:prstGeom>
        </p:spPr>
      </p:pic>
      <p:sp>
        <p:nvSpPr>
          <p:cNvPr id="21" name="Text 15"/>
          <p:cNvSpPr txBox="1"/>
          <p:nvPr/>
        </p:nvSpPr>
        <p:spPr>
          <a:xfrm>
            <a:off x="7178040" y="4023360"/>
            <a:ext cx="4160520" cy="502920"/>
          </a:xfrm>
          <a:prstGeom prst="rect">
            <a:avLst/>
          </a:prstGeom>
          <a:noFill/>
          <a:ln/>
        </p:spPr>
        <p:txBody>
          <a:bodyPr wrap="square" lIns="0" tIns="0" rIns="0" bIns="0" rtlCol="0" anchor="ctr"/>
          <a:lstStyle/>
          <a:p>
            <a:pPr indent="0" marL="0">
              <a:buNone/>
            </a:pPr>
            <a:r>
              <a:rPr lang="en-US" sz="1900" b="1" dirty="0">
                <a:solidFill>
                  <a:schemeClr val="tx1"/>
                </a:solidFill>
              </a:rPr>
              <a:t>Congestion</a:t>
            </a:r>
            <a:endParaRPr lang="en-US" sz="1900" dirty="0"/>
          </a:p>
        </p:txBody>
      </p:sp>
      <p:sp>
        <p:nvSpPr>
          <p:cNvPr id="22" name="Text 16"/>
          <p:cNvSpPr txBox="1"/>
          <p:nvPr/>
        </p:nvSpPr>
        <p:spPr>
          <a:xfrm>
            <a:off x="7178040" y="4572000"/>
            <a:ext cx="4160520" cy="1051560"/>
          </a:xfrm>
          <a:prstGeom prst="rect">
            <a:avLst/>
          </a:prstGeom>
          <a:noFill/>
          <a:ln/>
        </p:spPr>
        <p:txBody>
          <a:bodyPr wrap="square" lIns="0" tIns="0" rIns="0" bIns="0" rtlCol="0" anchor="t"/>
          <a:lstStyle/>
          <a:p>
            <a:pPr indent="0" marL="0">
              <a:buNone/>
            </a:pPr>
            <a:r>
              <a:rPr lang="en-US" sz="1500" dirty="0">
                <a:solidFill>
                  <a:schemeClr val="tx2"/>
                </a:solidFill>
              </a:rPr>
              <a:t>Two pickers in one aisle slow to 0.35 m/s, and the twin reports the minutes lost.</a:t>
            </a:r>
            <a:endParaRPr lang="en-US" sz="1500" dirty="0"/>
          </a:p>
        </p:txBody>
      </p:sp>
      <p:sp>
        <p:nvSpPr>
          <p:cNvPr id="25" name="Slide Number Placeholder 0"/>
          <p:cNvSpPr>
            <a:spLocks noGrp="1"/>
          </p:cNvSpPr>
          <p:nvPr>
            <p:ph type="sldNum" sz="quarter" idx="4294967295"/>
          </p:nvPr>
        </p:nvSpPr>
        <p:spPr>
          <a:xfrm>
            <a:off x="1109441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548640" y="411480"/>
            <a:ext cx="11094415" cy="731520"/>
          </a:xfrm>
          <a:prstGeom prst="rect">
            <a:avLst/>
          </a:prstGeom>
          <a:noFill/>
          <a:ln/>
        </p:spPr>
        <p:txBody>
          <a:bodyPr wrap="square" lIns="0" tIns="0" rIns="0" bIns="0" rtlCol="0" anchor="ctr"/>
          <a:lstStyle/>
          <a:p>
            <a:pPr algn="l" indent="0" marL="0">
              <a:buNone/>
            </a:pPr>
            <a:r>
              <a:rPr lang="en-US" sz="2800" b="1" dirty="0">
                <a:solidFill>
                  <a:schemeClr val="tx1"/>
                </a:solidFill>
              </a:rPr>
              <a:t>Measured, tested, and honest about its limits</a:t>
            </a:r>
            <a:endParaRPr lang="en-US" sz="2800" dirty="0"/>
          </a:p>
        </p:txBody>
      </p:sp>
      <p:sp>
        <p:nvSpPr>
          <p:cNvPr id="3" name="Text 1"/>
          <p:cNvSpPr txBox="1"/>
          <p:nvPr/>
        </p:nvSpPr>
        <p:spPr>
          <a:xfrm>
            <a:off x="548640" y="1463040"/>
            <a:ext cx="1463040" cy="822960"/>
          </a:xfrm>
          <a:prstGeom prst="rect">
            <a:avLst/>
          </a:prstGeom>
          <a:noFill/>
          <a:ln/>
        </p:spPr>
        <p:txBody>
          <a:bodyPr wrap="square" lIns="0" tIns="0" rIns="0" bIns="0" rtlCol="0" anchor="ctr"/>
          <a:lstStyle/>
          <a:p>
            <a:pPr indent="0" marL="0">
              <a:buNone/>
            </a:pPr>
            <a:r>
              <a:rPr lang="en-US" sz="4800" b="1" dirty="0">
                <a:solidFill>
                  <a:schemeClr val="accent2"/>
                </a:solidFill>
                <a:latin typeface="Arial" pitchFamily="34" charset="0"/>
                <a:ea typeface="Arial" pitchFamily="34" charset="-122"/>
                <a:cs typeface="Arial" pitchFamily="34" charset="-120"/>
              </a:rPr>
              <a:t>68</a:t>
            </a:r>
            <a:endParaRPr lang="en-US" sz="4800" dirty="0"/>
          </a:p>
        </p:txBody>
      </p:sp>
      <p:sp>
        <p:nvSpPr>
          <p:cNvPr id="4" name="Text 2"/>
          <p:cNvSpPr txBox="1"/>
          <p:nvPr/>
        </p:nvSpPr>
        <p:spPr>
          <a:xfrm>
            <a:off x="2103120" y="1572768"/>
            <a:ext cx="4023360" cy="685800"/>
          </a:xfrm>
          <a:prstGeom prst="rect">
            <a:avLst/>
          </a:prstGeom>
          <a:noFill/>
          <a:ln/>
        </p:spPr>
        <p:txBody>
          <a:bodyPr wrap="square" lIns="0" tIns="0" rIns="0" bIns="0" rtlCol="0" anchor="ctr"/>
          <a:lstStyle/>
          <a:p>
            <a:pPr indent="0" marL="0">
              <a:buNone/>
            </a:pPr>
            <a:r>
              <a:rPr lang="en-US" sz="1600" dirty="0">
                <a:solidFill>
                  <a:schemeClr val="tx1"/>
                </a:solidFill>
              </a:rPr>
              <a:t>automated tests (62 TypeScript, 6 Python)</a:t>
            </a:r>
            <a:endParaRPr lang="en-US" sz="1600" dirty="0"/>
          </a:p>
        </p:txBody>
      </p:sp>
      <p:sp>
        <p:nvSpPr>
          <p:cNvPr id="5" name="Text 3"/>
          <p:cNvSpPr txBox="1"/>
          <p:nvPr/>
        </p:nvSpPr>
        <p:spPr>
          <a:xfrm>
            <a:off x="548640" y="2880360"/>
            <a:ext cx="1463040" cy="822960"/>
          </a:xfrm>
          <a:prstGeom prst="rect">
            <a:avLst/>
          </a:prstGeom>
          <a:noFill/>
          <a:ln/>
        </p:spPr>
        <p:txBody>
          <a:bodyPr wrap="square" lIns="0" tIns="0" rIns="0" bIns="0" rtlCol="0" anchor="ctr"/>
          <a:lstStyle/>
          <a:p>
            <a:pPr indent="0" marL="0">
              <a:buNone/>
            </a:pPr>
            <a:r>
              <a:rPr lang="en-US" sz="4800" b="1" dirty="0">
                <a:solidFill>
                  <a:schemeClr val="accent2"/>
                </a:solidFill>
                <a:latin typeface="Arial" pitchFamily="34" charset="0"/>
                <a:ea typeface="Arial" pitchFamily="34" charset="-122"/>
                <a:cs typeface="Arial" pitchFamily="34" charset="-120"/>
              </a:rPr>
              <a:t>1</a:t>
            </a:r>
            <a:endParaRPr lang="en-US" sz="4800" dirty="0"/>
          </a:p>
        </p:txBody>
      </p:sp>
      <p:sp>
        <p:nvSpPr>
          <p:cNvPr id="6" name="Text 4"/>
          <p:cNvSpPr txBox="1"/>
          <p:nvPr/>
        </p:nvSpPr>
        <p:spPr>
          <a:xfrm>
            <a:off x="2103120" y="2990088"/>
            <a:ext cx="4023360" cy="685800"/>
          </a:xfrm>
          <a:prstGeom prst="rect">
            <a:avLst/>
          </a:prstGeom>
          <a:noFill/>
          <a:ln/>
        </p:spPr>
        <p:txBody>
          <a:bodyPr wrap="square" lIns="0" tIns="0" rIns="0" bIns="0" rtlCol="0" anchor="ctr"/>
          <a:lstStyle/>
          <a:p>
            <a:pPr indent="0" marL="0">
              <a:buNone/>
            </a:pPr>
            <a:r>
              <a:rPr lang="en-US" sz="1600" dirty="0">
                <a:solidFill>
                  <a:schemeClr val="tx1"/>
                </a:solidFill>
              </a:rPr>
              <a:t>function scores and animates every walk</a:t>
            </a:r>
            <a:endParaRPr lang="en-US" sz="1600" dirty="0"/>
          </a:p>
        </p:txBody>
      </p:sp>
      <p:sp>
        <p:nvSpPr>
          <p:cNvPr id="7" name="Text 5"/>
          <p:cNvSpPr txBox="1"/>
          <p:nvPr/>
        </p:nvSpPr>
        <p:spPr>
          <a:xfrm>
            <a:off x="548640" y="4297680"/>
            <a:ext cx="1463040" cy="822960"/>
          </a:xfrm>
          <a:prstGeom prst="rect">
            <a:avLst/>
          </a:prstGeom>
          <a:noFill/>
          <a:ln/>
        </p:spPr>
        <p:txBody>
          <a:bodyPr wrap="square" lIns="0" tIns="0" rIns="0" bIns="0" rtlCol="0" anchor="ctr"/>
          <a:lstStyle/>
          <a:p>
            <a:pPr indent="0" marL="0">
              <a:buNone/>
            </a:pPr>
            <a:r>
              <a:rPr lang="en-US" sz="4800" b="1" dirty="0">
                <a:solidFill>
                  <a:schemeClr val="accent2"/>
                </a:solidFill>
                <a:latin typeface="Arial" pitchFamily="34" charset="0"/>
                <a:ea typeface="Arial" pitchFamily="34" charset="-122"/>
                <a:cs typeface="Arial" pitchFamily="34" charset="-120"/>
              </a:rPr>
              <a:t>0</a:t>
            </a:r>
            <a:endParaRPr lang="en-US" sz="4800" dirty="0"/>
          </a:p>
        </p:txBody>
      </p:sp>
      <p:sp>
        <p:nvSpPr>
          <p:cNvPr id="8" name="Text 6"/>
          <p:cNvSpPr txBox="1"/>
          <p:nvPr/>
        </p:nvSpPr>
        <p:spPr>
          <a:xfrm>
            <a:off x="2103120" y="4407408"/>
            <a:ext cx="4023360" cy="685800"/>
          </a:xfrm>
          <a:prstGeom prst="rect">
            <a:avLst/>
          </a:prstGeom>
          <a:noFill/>
          <a:ln/>
        </p:spPr>
        <p:txBody>
          <a:bodyPr wrap="square" lIns="0" tIns="0" rIns="0" bIns="0" rtlCol="0" anchor="ctr"/>
          <a:lstStyle/>
          <a:p>
            <a:pPr indent="0" marL="0">
              <a:buNone/>
            </a:pPr>
            <a:r>
              <a:rPr lang="en-US" sz="1600" dirty="0">
                <a:solidFill>
                  <a:schemeClr val="tx1"/>
                </a:solidFill>
              </a:rPr>
              <a:t>results reported on data the model learned from</a:t>
            </a:r>
            <a:endParaRPr lang="en-US" sz="1600" dirty="0"/>
          </a:p>
        </p:txBody>
      </p:sp>
      <p:sp>
        <p:nvSpPr>
          <p:cNvPr id="9" name="Card"/>
          <p:cNvSpPr/>
          <p:nvPr/>
        </p:nvSpPr>
        <p:spPr>
          <a:xfrm>
            <a:off x="6355080" y="1463040"/>
            <a:ext cx="5303520" cy="4480560"/>
          </a:xfrm>
          <a:prstGeom prst="roundRect">
            <a:avLst>
              <a:gd name="adj" fmla="val 1633"/>
            </a:avLst>
          </a:prstGeom>
          <a:solidFill>
            <a:schemeClr val="bg2"/>
          </a:solidFill>
          <a:ln w="12700">
            <a:solidFill>
              <a:schemeClr val="bg2"/>
            </a:solidFill>
            <a:prstDash val="solid"/>
          </a:ln>
        </p:spPr>
      </p:sp>
      <p:sp>
        <p:nvSpPr>
          <p:cNvPr id="10" name="Text 8"/>
          <p:cNvSpPr txBox="1"/>
          <p:nvPr/>
        </p:nvSpPr>
        <p:spPr>
          <a:xfrm>
            <a:off x="6629400" y="1645920"/>
            <a:ext cx="4754880" cy="411480"/>
          </a:xfrm>
          <a:prstGeom prst="rect">
            <a:avLst/>
          </a:prstGeom>
          <a:noFill/>
          <a:ln/>
        </p:spPr>
        <p:txBody>
          <a:bodyPr wrap="square" lIns="0" tIns="0" rIns="0" bIns="0" rtlCol="0" anchor="ctr"/>
          <a:lstStyle/>
          <a:p>
            <a:pPr indent="0" marL="0">
              <a:buNone/>
            </a:pPr>
            <a:r>
              <a:rPr lang="en-US" sz="1800" b="1" dirty="0">
                <a:solidFill>
                  <a:schemeClr val="tx1"/>
                </a:solidFill>
              </a:rPr>
              <a:t>Limitations we state</a:t>
            </a:r>
            <a:endParaRPr lang="en-US" sz="1800" dirty="0"/>
          </a:p>
        </p:txBody>
      </p:sp>
      <p:sp>
        <p:nvSpPr>
          <p:cNvPr id="11" name="Text 9"/>
          <p:cNvSpPr txBox="1"/>
          <p:nvPr/>
        </p:nvSpPr>
        <p:spPr>
          <a:xfrm>
            <a:off x="6629400" y="2148840"/>
            <a:ext cx="4800600" cy="3566160"/>
          </a:xfrm>
          <a:prstGeom prst="rect">
            <a:avLst/>
          </a:prstGeom>
          <a:noFill/>
          <a:ln/>
        </p:spPr>
        <p:txBody>
          <a:bodyPr wrap="square" lIns="0" tIns="0" rIns="0" bIns="0" rtlCol="0" anchor="t"/>
          <a:lstStyle/>
          <a:p>
            <a:pPr marL="342900" indent="-342900">
              <a:spcAft>
                <a:spcPts val="800"/>
              </a:spcAft>
              <a:buSzPct val="100000"/>
              <a:buChar char="•"/>
            </a:pPr>
            <a:r>
              <a:rPr lang="en-US" sz="1500" dirty="0">
                <a:solidFill>
                  <a:schemeClr val="tx2"/>
                </a:solidFill>
              </a:rPr>
              <a:t>Layout and company name are ours; the orders are real.</a:t>
            </a:r>
            <a:endParaRPr lang="en-US" sz="1500" dirty="0"/>
          </a:p>
          <a:p>
            <a:pPr marL="342900" indent="-342900">
              <a:spcAft>
                <a:spcPts val="800"/>
              </a:spcAft>
              <a:buSzPct val="100000"/>
              <a:buChar char="•"/>
            </a:pPr>
            <a:r>
              <a:rPr lang="en-US" sz="1500" dirty="0">
                <a:solidFill>
                  <a:schemeClr val="tx2"/>
                </a:solidFill>
              </a:rPr>
              <a:t>Results cover a 100-product zone (about 21% of order lines).</a:t>
            </a:r>
            <a:endParaRPr lang="en-US" sz="1500" dirty="0"/>
          </a:p>
          <a:p>
            <a:pPr marL="342900" indent="-342900">
              <a:spcAft>
                <a:spcPts val="800"/>
              </a:spcAft>
              <a:buSzPct val="100000"/>
              <a:buChar char="•"/>
            </a:pPr>
            <a:r>
              <a:rPr lang="en-US" sz="1500" dirty="0">
                <a:solidFill>
                  <a:schemeClr val="tx2"/>
                </a:solidFill>
              </a:rPr>
              <a:t>Times and congestion are simple, stated models.</a:t>
            </a:r>
            <a:endParaRPr lang="en-US" sz="1500" dirty="0"/>
          </a:p>
          <a:p>
            <a:pPr marL="342900" indent="-342900">
              <a:spcAft>
                <a:spcPts val="800"/>
              </a:spcAft>
              <a:buSzPct val="100000"/>
              <a:buChar char="•"/>
            </a:pPr>
            <a:r>
              <a:rPr lang="en-US" sz="1500" dirty="0">
                <a:solidFill>
                  <a:schemeClr val="tx2"/>
                </a:solidFill>
              </a:rPr>
              <a:t>Sorting at the dock is not counted.</a:t>
            </a:r>
            <a:endParaRPr lang="en-US" sz="1500" dirty="0"/>
          </a:p>
          <a:p>
            <a:pPr marL="342900" indent="-342900">
              <a:spcAft>
                <a:spcPts val="800"/>
              </a:spcAft>
              <a:buSzPct val="100000"/>
              <a:buChar char="•"/>
            </a:pPr>
            <a:r>
              <a:rPr lang="en-US" sz="1500" dirty="0">
                <a:solidFill>
                  <a:schemeClr val="tx2"/>
                </a:solidFill>
              </a:rPr>
              <a:t>AI runs vary a little; slides use the seeded run.</a:t>
            </a:r>
            <a:endParaRPr lang="en-US" sz="1500" dirty="0"/>
          </a:p>
        </p:txBody>
      </p:sp>
      <p:sp>
        <p:nvSpPr>
          <p:cNvPr id="25" name="Slide Number Placeholder 0"/>
          <p:cNvSpPr>
            <a:spLocks noGrp="1"/>
          </p:cNvSpPr>
          <p:nvPr>
            <p:ph type="sldNum" sz="quarter" idx="4294967295"/>
          </p:nvPr>
        </p:nvSpPr>
        <p:spPr>
          <a:xfrm>
            <a:off x="1109441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548640" y="1463040"/>
            <a:ext cx="6400800" cy="1828800"/>
          </a:xfrm>
          <a:prstGeom prst="rect">
            <a:avLst/>
          </a:prstGeom>
          <a:noFill/>
          <a:ln/>
        </p:spPr>
        <p:txBody>
          <a:bodyPr wrap="square" lIns="0" tIns="0" rIns="0" bIns="0" rtlCol="0" anchor="b"/>
          <a:lstStyle/>
          <a:p>
            <a:pPr algn="l" indent="0" marL="0">
              <a:buNone/>
            </a:pPr>
            <a:r>
              <a:rPr lang="en-US" sz="5400" b="1" dirty="0">
                <a:solidFill>
                  <a:schemeClr val="bg1"/>
                </a:solidFill>
              </a:rPr>
              <a:t>Same orders before and after</a:t>
            </a:r>
            <a:endParaRPr lang="en-US" sz="5400" dirty="0"/>
          </a:p>
        </p:txBody>
      </p:sp>
      <p:sp>
        <p:nvSpPr>
          <p:cNvPr id="3" name="Text 0"/>
          <p:cNvSpPr/>
          <p:nvPr>
            <p:ph idx="101" type="body" hasCustomPrompt="1"/>
          </p:nvPr>
        </p:nvSpPr>
        <p:spPr>
          <a:xfrm>
            <a:off x="548640" y="3429000"/>
            <a:ext cx="6400800" cy="1005840"/>
          </a:xfrm>
          <a:prstGeom prst="rect">
            <a:avLst/>
          </a:prstGeom>
          <a:noFill/>
          <a:ln/>
        </p:spPr>
        <p:txBody>
          <a:bodyPr wrap="square" lIns="0" tIns="0" rIns="0" bIns="0" rtlCol="0" anchor="t"/>
          <a:lstStyle/>
          <a:p>
            <a:pPr algn="l" indent="0" marL="0">
              <a:buNone/>
            </a:pPr>
            <a:r>
              <a:rPr lang="en-US" sz="2000" dirty="0">
                <a:solidFill>
                  <a:schemeClr val="accent6"/>
                </a:solidFill>
              </a:rPr>
              <a:t>So every saving is measured, not claimed</a:t>
            </a:r>
            <a:endParaRPr lang="en-US" sz="2000" dirty="0"/>
          </a:p>
        </p:txBody>
      </p:sp>
      <p:sp>
        <p:nvSpPr>
          <p:cNvPr id="4" name="Text 2"/>
          <p:cNvSpPr txBox="1"/>
          <p:nvPr/>
        </p:nvSpPr>
        <p:spPr>
          <a:xfrm>
            <a:off x="548640" y="4434840"/>
            <a:ext cx="6583680" cy="1737360"/>
          </a:xfrm>
          <a:prstGeom prst="rect">
            <a:avLst/>
          </a:prstGeom>
          <a:noFill/>
          <a:ln/>
        </p:spPr>
        <p:txBody>
          <a:bodyPr wrap="square" lIns="0" tIns="0" rIns="0" bIns="0" rtlCol="0" anchor="t"/>
          <a:lstStyle/>
          <a:p>
            <a:pPr indent="0" marL="0">
              <a:spcAft>
                <a:spcPts val="600"/>
              </a:spcAft>
              <a:buNone/>
            </a:pPr>
            <a:r>
              <a:rPr lang="en-US" sz="1600" b="1" dirty="0">
                <a:solidFill>
                  <a:srgbClr val="F2B01E"/>
                </a:solidFill>
              </a:rPr>
              <a:t>Try it: </a:t>
            </a:r>
            <a:pPr indent="0" marL="0">
              <a:spcAft>
                <a:spcPts val="600"/>
              </a:spcAft>
              <a:buNone/>
            </a:pPr>
            <a:r>
              <a:rPr lang="en-US" sz="1600" dirty="0">
                <a:solidFill>
                  <a:schemeClr val="accent6"/>
                </a:solidFill>
              </a:rPr>
              <a:t>pick-and-pack-twin.vercel.app</a:t>
            </a:r>
            <a:endParaRPr lang="en-US" sz="1600" dirty="0"/>
          </a:p>
          <a:p>
            <a:pPr indent="0" marL="0">
              <a:spcAft>
                <a:spcPts val="600"/>
              </a:spcAft>
              <a:buNone/>
            </a:pPr>
            <a:r>
              <a:rPr lang="en-US" sz="1600" b="1" dirty="0">
                <a:solidFill>
                  <a:srgbClr val="F2B01E"/>
                </a:solidFill>
              </a:rPr>
              <a:t>Code: </a:t>
            </a:r>
            <a:pPr indent="0" marL="0">
              <a:spcAft>
                <a:spcPts val="600"/>
              </a:spcAft>
              <a:buNone/>
            </a:pPr>
            <a:r>
              <a:rPr lang="en-US" sz="1600" dirty="0">
                <a:solidFill>
                  <a:schemeClr val="accent6"/>
                </a:solidFill>
              </a:rPr>
              <a:t>github.com/JayeshPani/NEXAI</a:t>
            </a:r>
            <a:endParaRPr lang="en-US" sz="1600" dirty="0"/>
          </a:p>
          <a:p>
            <a:pPr indent="0" marL="0">
              <a:spcAft>
                <a:spcPts val="600"/>
              </a:spcAft>
              <a:buNone/>
            </a:pPr>
            <a:r>
              <a:rPr lang="en-US" sz="1600" b="1" dirty="0">
                <a:solidFill>
                  <a:srgbClr val="F2B01E"/>
                </a:solidFill>
              </a:rPr>
              <a:t>Demo: </a:t>
            </a:r>
            <a:pPr indent="0" marL="0">
              <a:spcAft>
                <a:spcPts val="600"/>
              </a:spcAft>
              <a:buNone/>
            </a:pPr>
            <a:r>
              <a:rPr lang="en-US" sz="1600" dirty="0">
                <a:solidFill>
                  <a:schemeClr val="accent6"/>
                </a:solidFill>
              </a:rPr>
              <a:t>youtube.com/watch?v=ivEmdlQU4yc</a:t>
            </a:r>
            <a:endParaRPr lang="en-US" sz="1600" dirty="0"/>
          </a:p>
          <a:p>
            <a:pPr indent="0" marL="0">
              <a:spcAft>
                <a:spcPts val="600"/>
              </a:spcAft>
              <a:buNone/>
            </a:pPr>
            <a:r>
              <a:rPr lang="en-US" sz="1600" b="1" dirty="0">
                <a:solidFill>
                  <a:srgbClr val="F2B01E"/>
                </a:solidFill>
              </a:rPr>
              <a:t>Next: </a:t>
            </a:r>
            <a:pPr indent="0" marL="0">
              <a:spcAft>
                <a:spcPts val="600"/>
              </a:spcAft>
              <a:buNone/>
            </a:pPr>
            <a:r>
              <a:rPr lang="en-US" sz="1600" dirty="0">
                <a:solidFill>
                  <a:schemeClr val="accent6"/>
                </a:solidFill>
              </a:rPr>
              <a:t>real case sizes and shelf levels, a live WMS feed, the whole catalogue</a:t>
            </a:r>
            <a:endParaRPr lang="en-US" sz="1600" dirty="0"/>
          </a:p>
        </p:txBody>
      </p:sp>
      <p:pic>
        <p:nvPicPr>
          <p:cNvPr id="5" name="Peak shift" descr="/private/tmp/claude-501/-Users-meghagautam-Desktop-NexAI/7e06456b-d112-4e56-b42b-9598c9c036e7/scratchpad/deck/shots/peak.png">    </p:cNvPr>
          <p:cNvPicPr>
            <a:picLocks noChangeAspect="1"/>
          </p:cNvPicPr>
          <p:nvPr/>
        </p:nvPicPr>
        <p:blipFill>
          <a:blip r:embed="rId1"/>
          <a:srcRect l="0" r="0" t="0" b="0"/>
          <a:stretch/>
        </p:blipFill>
        <p:spPr>
          <a:xfrm>
            <a:off x="7269480" y="0"/>
            <a:ext cx="4922215" cy="6858000"/>
          </a:xfrm>
          <a:prstGeom prst="rect">
            <a:avLst/>
          </a:prstGeom>
        </p:spPr>
      </p:pic>
    </p:spTree>
  </p:cSld>
  <p:clrMapOvr>
    <a:masterClrMapping/>
  </p:clrMapOvr>
</p:sld>
</file>

<file path=ppt/theme/theme1.xml><?xml version="1.0" encoding="utf-8"?>
<a:theme xmlns:a="http://schemas.openxmlformats.org/drawingml/2006/main" name="Pick and Pack">
  <a:themeElements>
    <a:clrScheme name="Pick and Pack">
      <a:dk1>
        <a:srgbClr val="1D2433"/>
      </a:dk1>
      <a:lt1>
        <a:srgbClr val="FFFFFF"/>
      </a:lt1>
      <a:dk2>
        <a:srgbClr val="3B4458"/>
      </a:dk2>
      <a:lt2>
        <a:srgbClr val="F1F3F6"/>
      </a:lt2>
      <a:accent1>
        <a:srgbClr val="F2B01E"/>
      </a:accent1>
      <a:accent2>
        <a:srgbClr val="2E7D5B"/>
      </a:accent2>
      <a:accent3>
        <a:srgbClr val="C2410C"/>
      </a:accent3>
      <a:accent4>
        <a:srgbClr val="2457C5"/>
      </a:accent4>
      <a:accent5>
        <a:srgbClr val="8B93A5"/>
      </a:accent5>
      <a:accent6>
        <a:srgbClr val="D7DBE2"/>
      </a:accent6>
      <a:hlink>
        <a:srgbClr val="2457C5"/>
      </a:hlink>
      <a:folHlink>
        <a:srgbClr val="6B4FA0"/>
      </a:folHlink>
    </a:clrScheme>
    <a:fontScheme name="Pick and Pack">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NEXAI 2026 Hackathon</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Pick and Pack: warehouse digital twin</dc:title>
  <dc:subject>PptxGenJS Presentation</dc:subject>
  <dc:creator>Jayesh Pani, Megha Gautam, Meet Kumar</dc:creator>
  <cp:lastModifiedBy>Jayesh Pani, Megha Gautam, Meet Kumar</cp:lastModifiedBy>
  <cp:revision>1</cp:revision>
  <dcterms:created xsi:type="dcterms:W3CDTF">2026-10-22T11:50:02Z</dcterms:created>
  <dcterms:modified xsi:type="dcterms:W3CDTF">2026-10-22T11:50:02Z</dcterms:modified>
</cp:coreProperties>
</file>